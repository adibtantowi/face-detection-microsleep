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Lst>
  <p:sldSz cx="18288000" cy="10287000"/>
  <p:notesSz cx="6858000" cy="9144000"/>
  <p:embeddedFontLst>
    <p:embeddedFont>
      <p:font typeface="Open Sans" panose="020B0606030504020204" pitchFamily="34" charset="0"/>
      <p:regular r:id="rId12"/>
    </p:embeddedFont>
    <p:embeddedFont>
      <p:font typeface="Open Sans Bold" panose="020B0604020202020204" charset="0"/>
      <p:regular r:id="rId13"/>
    </p:embeddedFont>
    <p:embeddedFont>
      <p:font typeface="Open Sans Italics" panose="020B0604020202020204" charset="0"/>
      <p:regular r:id="rId14"/>
    </p:embeddedFont>
    <p:embeddedFont>
      <p:font typeface="Raleway" pitchFamily="2" charset="0"/>
      <p:regular r:id="rId15"/>
    </p:embeddedFont>
    <p:embeddedFont>
      <p:font typeface="Raleway Bold" panose="020B0604020202020204" charset="0"/>
      <p:regular r:id="rId16"/>
    </p:embeddedFont>
    <p:embeddedFont>
      <p:font typeface="Raleway Semi-Bold" panose="020B0604020202020204" charset="0"/>
      <p:regular r:id="rId17"/>
    </p:embeddedFont>
    <p:embeddedFont>
      <p:font typeface="TT Lakes Neue" panose="020B0604020202020204" charset="0"/>
      <p:regular r:id="rId18"/>
    </p:embeddedFont>
    <p:embeddedFont>
      <p:font typeface="TT Lakes Neue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svg"/><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692536" y="1431726"/>
            <a:ext cx="2032362"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KELOMPOK  1</a:t>
            </a:r>
          </a:p>
        </p:txBody>
      </p:sp>
      <p:sp>
        <p:nvSpPr>
          <p:cNvPr id="4" name="TextBox 4"/>
          <p:cNvSpPr txBox="1"/>
          <p:nvPr/>
        </p:nvSpPr>
        <p:spPr>
          <a:xfrm>
            <a:off x="16175678" y="1560323"/>
            <a:ext cx="1418817" cy="263292"/>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PAGE 01</a:t>
            </a:r>
          </a:p>
        </p:txBody>
      </p:sp>
      <p:sp>
        <p:nvSpPr>
          <p:cNvPr id="5" name="Freeform 5"/>
          <p:cNvSpPr/>
          <p:nvPr/>
        </p:nvSpPr>
        <p:spPr>
          <a:xfrm>
            <a:off x="1298997" y="2895311"/>
            <a:ext cx="5126886" cy="5033670"/>
          </a:xfrm>
          <a:custGeom>
            <a:avLst/>
            <a:gdLst/>
            <a:ahLst/>
            <a:cxnLst/>
            <a:rect l="l" t="t" r="r" b="b"/>
            <a:pathLst>
              <a:path w="5126886" h="5033670">
                <a:moveTo>
                  <a:pt x="0" y="0"/>
                </a:moveTo>
                <a:lnTo>
                  <a:pt x="5126886" y="0"/>
                </a:lnTo>
                <a:lnTo>
                  <a:pt x="5126886" y="5033670"/>
                </a:lnTo>
                <a:lnTo>
                  <a:pt x="0" y="5033670"/>
                </a:lnTo>
                <a:lnTo>
                  <a:pt x="0" y="0"/>
                </a:lnTo>
                <a:close/>
              </a:path>
            </a:pathLst>
          </a:custGeom>
          <a:blipFill>
            <a:blip>
              <a:alphaModFix amt="31000"/>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962833" y="5488346"/>
            <a:ext cx="11776560" cy="842744"/>
          </a:xfrm>
          <a:prstGeom prst="rect">
            <a:avLst/>
          </a:prstGeom>
        </p:spPr>
        <p:txBody>
          <a:bodyPr lIns="0" tIns="0" rIns="0" bIns="0" rtlCol="0" anchor="t">
            <a:spAutoFit/>
          </a:bodyPr>
          <a:lstStyle/>
          <a:p>
            <a:pPr algn="l">
              <a:lnSpc>
                <a:spcPts val="6404"/>
              </a:lnSpc>
              <a:spcBef>
                <a:spcPct val="0"/>
              </a:spcBef>
            </a:pPr>
            <a:r>
              <a:rPr lang="en-US" sz="6042" b="1">
                <a:solidFill>
                  <a:srgbClr val="FFFFFF"/>
                </a:solidFill>
                <a:latin typeface="TT Lakes Neue Bold"/>
                <a:ea typeface="TT Lakes Neue Bold"/>
                <a:cs typeface="TT Lakes Neue Bold"/>
                <a:sym typeface="TT Lakes Neue Bold"/>
              </a:rPr>
              <a:t>BREAK TIME &amp; MICROSLEEP</a:t>
            </a:r>
          </a:p>
        </p:txBody>
      </p:sp>
      <p:sp>
        <p:nvSpPr>
          <p:cNvPr id="7" name="TextBox 7"/>
          <p:cNvSpPr txBox="1"/>
          <p:nvPr/>
        </p:nvSpPr>
        <p:spPr>
          <a:xfrm>
            <a:off x="2962833" y="4201335"/>
            <a:ext cx="12726115" cy="1365966"/>
          </a:xfrm>
          <a:prstGeom prst="rect">
            <a:avLst/>
          </a:prstGeom>
        </p:spPr>
        <p:txBody>
          <a:bodyPr lIns="0" tIns="0" rIns="0" bIns="0" rtlCol="0" anchor="t">
            <a:spAutoFit/>
          </a:bodyPr>
          <a:lstStyle/>
          <a:p>
            <a:pPr algn="l">
              <a:lnSpc>
                <a:spcPts val="10453"/>
              </a:lnSpc>
              <a:spcBef>
                <a:spcPct val="0"/>
              </a:spcBef>
            </a:pPr>
            <a:r>
              <a:rPr lang="en-US" sz="9861" b="1">
                <a:solidFill>
                  <a:srgbClr val="FFFFFF"/>
                </a:solidFill>
                <a:latin typeface="TT Lakes Neue Bold"/>
                <a:ea typeface="TT Lakes Neue Bold"/>
                <a:cs typeface="TT Lakes Neue Bold"/>
                <a:sym typeface="TT Lakes Neue Bold"/>
              </a:rPr>
              <a:t>FACE DETECTION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52807" y="3505117"/>
            <a:ext cx="18688947" cy="6101797"/>
            <a:chOff x="0" y="0"/>
            <a:chExt cx="4922192" cy="1607058"/>
          </a:xfrm>
        </p:grpSpPr>
        <p:sp>
          <p:nvSpPr>
            <p:cNvPr id="4" name="Freeform 4"/>
            <p:cNvSpPr/>
            <p:nvPr/>
          </p:nvSpPr>
          <p:spPr>
            <a:xfrm>
              <a:off x="0" y="0"/>
              <a:ext cx="4922192" cy="1607058"/>
            </a:xfrm>
            <a:custGeom>
              <a:avLst/>
              <a:gdLst/>
              <a:ahLst/>
              <a:cxnLst/>
              <a:rect l="l" t="t" r="r" b="b"/>
              <a:pathLst>
                <a:path w="4922192" h="1607058">
                  <a:moveTo>
                    <a:pt x="0" y="0"/>
                  </a:moveTo>
                  <a:lnTo>
                    <a:pt x="4922192" y="0"/>
                  </a:lnTo>
                  <a:lnTo>
                    <a:pt x="4922192" y="1607058"/>
                  </a:lnTo>
                  <a:lnTo>
                    <a:pt x="0" y="1607058"/>
                  </a:lnTo>
                  <a:close/>
                </a:path>
              </a:pathLst>
            </a:custGeom>
            <a:gradFill rotWithShape="1">
              <a:gsLst>
                <a:gs pos="0">
                  <a:srgbClr val="131F40">
                    <a:alpha val="75000"/>
                  </a:srgbClr>
                </a:gs>
                <a:gs pos="100000">
                  <a:srgbClr val="3D6D81">
                    <a:alpha val="75000"/>
                  </a:srgbClr>
                </a:gs>
              </a:gsLst>
              <a:lin ang="0"/>
            </a:gradFill>
          </p:spPr>
        </p:sp>
        <p:sp>
          <p:nvSpPr>
            <p:cNvPr id="5" name="TextBox 5"/>
            <p:cNvSpPr txBox="1"/>
            <p:nvPr/>
          </p:nvSpPr>
          <p:spPr>
            <a:xfrm>
              <a:off x="0" y="28575"/>
              <a:ext cx="4922192" cy="1578483"/>
            </a:xfrm>
            <a:prstGeom prst="rect">
              <a:avLst/>
            </a:prstGeom>
          </p:spPr>
          <p:txBody>
            <a:bodyPr lIns="50800" tIns="50800" rIns="50800" bIns="50800" rtlCol="0" anchor="ctr"/>
            <a:lstStyle/>
            <a:p>
              <a:pPr algn="ctr">
                <a:lnSpc>
                  <a:spcPts val="2181"/>
                </a:lnSpc>
              </a:pPr>
              <a:endParaRPr/>
            </a:p>
          </p:txBody>
        </p:sp>
      </p:grpSp>
      <p:sp>
        <p:nvSpPr>
          <p:cNvPr id="6" name="TextBox 6"/>
          <p:cNvSpPr txBox="1"/>
          <p:nvPr/>
        </p:nvSpPr>
        <p:spPr>
          <a:xfrm>
            <a:off x="917465" y="3711940"/>
            <a:ext cx="16453069" cy="5894974"/>
          </a:xfrm>
          <a:prstGeom prst="rect">
            <a:avLst/>
          </a:prstGeom>
        </p:spPr>
        <p:txBody>
          <a:bodyPr lIns="0" tIns="0" rIns="0" bIns="0" rtlCol="0" anchor="t">
            <a:spAutoFit/>
          </a:bodyPr>
          <a:lstStyle/>
          <a:p>
            <a:pPr algn="just">
              <a:lnSpc>
                <a:spcPts val="3347"/>
              </a:lnSpc>
            </a:pPr>
            <a:r>
              <a:rPr lang="en-US" sz="3157" b="1">
                <a:solidFill>
                  <a:srgbClr val="FEFEFE"/>
                </a:solidFill>
                <a:latin typeface="Raleway Semi-Bold"/>
                <a:ea typeface="Raleway Semi-Bold"/>
                <a:cs typeface="Raleway Semi-Bold"/>
                <a:sym typeface="Raleway Semi-Bold"/>
              </a:rPr>
              <a:t>Program Smart Work Monitoring System with Drowsiness Detection merupakan sistem berbasis Python yang mengintegrasikan OpenCV, MediaPipe, dan Tkinter GUI untuk memantau kondisi pengguna selama bekerja. Sistem ini mampu mendeteksi wajah, memantau tingkat kantuk, dan mengatur waktu kerja–istirahat otomatis.</a:t>
            </a:r>
          </a:p>
          <a:p>
            <a:pPr algn="just">
              <a:lnSpc>
                <a:spcPts val="3347"/>
              </a:lnSpc>
            </a:pPr>
            <a:endParaRPr lang="en-US" sz="3157" b="1">
              <a:solidFill>
                <a:srgbClr val="FEFEFE"/>
              </a:solidFill>
              <a:latin typeface="Raleway Semi-Bold"/>
              <a:ea typeface="Raleway Semi-Bold"/>
              <a:cs typeface="Raleway Semi-Bold"/>
              <a:sym typeface="Raleway Semi-Bold"/>
            </a:endParaRPr>
          </a:p>
          <a:p>
            <a:pPr algn="just">
              <a:lnSpc>
                <a:spcPts val="3347"/>
              </a:lnSpc>
            </a:pPr>
            <a:r>
              <a:rPr lang="en-US" sz="3157" b="1">
                <a:solidFill>
                  <a:srgbClr val="FEFEFE"/>
                </a:solidFill>
                <a:latin typeface="Raleway Semi-Bold"/>
                <a:ea typeface="Raleway Semi-Bold"/>
                <a:cs typeface="Raleway Semi-Bold"/>
                <a:sym typeface="Raleway Semi-Bold"/>
              </a:rPr>
              <a:t>Tujuan:</a:t>
            </a:r>
          </a:p>
          <a:p>
            <a:pPr marL="681806" lvl="1" indent="-340903" algn="just">
              <a:lnSpc>
                <a:spcPts val="3347"/>
              </a:lnSpc>
              <a:buAutoNum type="arabicPeriod"/>
            </a:pPr>
            <a:r>
              <a:rPr lang="en-US" sz="3157" b="1">
                <a:solidFill>
                  <a:srgbClr val="FEFEFE"/>
                </a:solidFill>
                <a:latin typeface="Raleway Semi-Bold"/>
                <a:ea typeface="Raleway Semi-Bold"/>
                <a:cs typeface="Raleway Semi-Bold"/>
                <a:sym typeface="Raleway Semi-Bold"/>
              </a:rPr>
              <a:t>Mendeteksi wajah dan tanda-tanda kantuk pengguna (mata tertutup, menguap, kepala miring) secara real-time melalui kamera.</a:t>
            </a:r>
          </a:p>
          <a:p>
            <a:pPr marL="681806" lvl="1" indent="-340903" algn="just">
              <a:lnSpc>
                <a:spcPts val="3347"/>
              </a:lnSpc>
              <a:buAutoNum type="arabicPeriod"/>
            </a:pPr>
            <a:r>
              <a:rPr lang="en-US" sz="3157" b="1">
                <a:solidFill>
                  <a:srgbClr val="FEFEFE"/>
                </a:solidFill>
                <a:latin typeface="Raleway Semi-Bold"/>
                <a:ea typeface="Raleway Semi-Bold"/>
                <a:cs typeface="Raleway Semi-Bold"/>
                <a:sym typeface="Raleway Semi-Bold"/>
              </a:rPr>
              <a:t>Mengatur siklus kerja → istirahat → persiapan → kerja secara otomatis.</a:t>
            </a:r>
          </a:p>
          <a:p>
            <a:pPr marL="681806" lvl="1" indent="-340903" algn="just">
              <a:lnSpc>
                <a:spcPts val="3347"/>
              </a:lnSpc>
              <a:buAutoNum type="arabicPeriod"/>
            </a:pPr>
            <a:r>
              <a:rPr lang="en-US" sz="3157" b="1">
                <a:solidFill>
                  <a:srgbClr val="FEFEFE"/>
                </a:solidFill>
                <a:latin typeface="Raleway Semi-Bold"/>
                <a:ea typeface="Raleway Semi-Bold"/>
                <a:cs typeface="Raleway Semi-Bold"/>
                <a:sym typeface="Raleway Semi-Bold"/>
              </a:rPr>
              <a:t>Memberikan peringatan visual (popup) dan audio (alarm) bila pengguna mengantuk atau perlu istirahat.</a:t>
            </a:r>
          </a:p>
          <a:p>
            <a:pPr marL="681806" lvl="1" indent="-340903" algn="just">
              <a:lnSpc>
                <a:spcPts val="3347"/>
              </a:lnSpc>
              <a:buAutoNum type="arabicPeriod"/>
            </a:pPr>
            <a:r>
              <a:rPr lang="en-US" sz="3157" b="1">
                <a:solidFill>
                  <a:srgbClr val="FEFEFE"/>
                </a:solidFill>
                <a:latin typeface="Raleway Semi-Bold"/>
                <a:ea typeface="Raleway Semi-Bold"/>
                <a:cs typeface="Raleway Semi-Bold"/>
                <a:sym typeface="Raleway Semi-Bold"/>
              </a:rPr>
              <a:t>Menggunakan GUI berbasis Tkinter untuk menampilkan status, waktu, dan hasil deteksi secara interaktif.</a:t>
            </a:r>
          </a:p>
          <a:p>
            <a:pPr algn="just">
              <a:lnSpc>
                <a:spcPts val="3347"/>
              </a:lnSpc>
              <a:spcBef>
                <a:spcPct val="0"/>
              </a:spcBef>
            </a:pPr>
            <a:endParaRPr lang="en-US" sz="3157" b="1">
              <a:solidFill>
                <a:srgbClr val="FEFEFE"/>
              </a:solidFill>
              <a:latin typeface="Raleway Semi-Bold"/>
              <a:ea typeface="Raleway Semi-Bold"/>
              <a:cs typeface="Raleway Semi-Bold"/>
              <a:sym typeface="Raleway Semi-Bold"/>
            </a:endParaRPr>
          </a:p>
        </p:txBody>
      </p:sp>
      <p:sp>
        <p:nvSpPr>
          <p:cNvPr id="7" name="TextBox 7"/>
          <p:cNvSpPr txBox="1"/>
          <p:nvPr/>
        </p:nvSpPr>
        <p:spPr>
          <a:xfrm>
            <a:off x="2692536" y="1431726"/>
            <a:ext cx="1984134"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KELOMPOK 2</a:t>
            </a:r>
          </a:p>
        </p:txBody>
      </p:sp>
      <p:sp>
        <p:nvSpPr>
          <p:cNvPr id="8" name="TextBox 8"/>
          <p:cNvSpPr txBox="1"/>
          <p:nvPr/>
        </p:nvSpPr>
        <p:spPr>
          <a:xfrm>
            <a:off x="16175678" y="1560323"/>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PAGE 03</a:t>
            </a:r>
          </a:p>
        </p:txBody>
      </p:sp>
      <p:sp>
        <p:nvSpPr>
          <p:cNvPr id="9" name="TextBox 9"/>
          <p:cNvSpPr txBox="1"/>
          <p:nvPr/>
        </p:nvSpPr>
        <p:spPr>
          <a:xfrm>
            <a:off x="8626350" y="2163114"/>
            <a:ext cx="6287715" cy="1167826"/>
          </a:xfrm>
          <a:prstGeom prst="rect">
            <a:avLst/>
          </a:prstGeom>
        </p:spPr>
        <p:txBody>
          <a:bodyPr lIns="0" tIns="0" rIns="0" bIns="0" rtlCol="0" anchor="t">
            <a:spAutoFit/>
          </a:bodyPr>
          <a:lstStyle/>
          <a:p>
            <a:pPr algn="l">
              <a:lnSpc>
                <a:spcPts val="8936"/>
              </a:lnSpc>
              <a:spcBef>
                <a:spcPct val="0"/>
              </a:spcBef>
            </a:pPr>
            <a:r>
              <a:rPr lang="en-US" sz="8430" b="1">
                <a:gradFill>
                  <a:gsLst>
                    <a:gs pos="0">
                      <a:srgbClr val="CDFFD8">
                        <a:alpha val="100000"/>
                      </a:srgbClr>
                    </a:gs>
                    <a:gs pos="100000">
                      <a:srgbClr val="94B9FF">
                        <a:alpha val="100000"/>
                      </a:srgbClr>
                    </a:gs>
                  </a:gsLst>
                  <a:lin ang="0"/>
                </a:gradFill>
                <a:latin typeface="TT Lakes Neue Bold"/>
                <a:ea typeface="TT Lakes Neue Bold"/>
                <a:cs typeface="TT Lakes Neue Bold"/>
                <a:sym typeface="TT Lakes Neue Bold"/>
              </a:rPr>
              <a:t>PROGRAM</a:t>
            </a:r>
          </a:p>
        </p:txBody>
      </p:sp>
      <p:sp>
        <p:nvSpPr>
          <p:cNvPr id="10" name="TextBox 10"/>
          <p:cNvSpPr txBox="1"/>
          <p:nvPr/>
        </p:nvSpPr>
        <p:spPr>
          <a:xfrm>
            <a:off x="3384694" y="2163114"/>
            <a:ext cx="5241655" cy="1167826"/>
          </a:xfrm>
          <a:prstGeom prst="rect">
            <a:avLst/>
          </a:prstGeom>
        </p:spPr>
        <p:txBody>
          <a:bodyPr lIns="0" tIns="0" rIns="0" bIns="0" rtlCol="0" anchor="t">
            <a:spAutoFit/>
          </a:bodyPr>
          <a:lstStyle/>
          <a:p>
            <a:pPr algn="l">
              <a:lnSpc>
                <a:spcPts val="8936"/>
              </a:lnSpc>
              <a:spcBef>
                <a:spcPct val="0"/>
              </a:spcBef>
            </a:pPr>
            <a:r>
              <a:rPr lang="en-US" sz="8430" b="1">
                <a:gradFill>
                  <a:gsLst>
                    <a:gs pos="0">
                      <a:srgbClr val="A6A6A6">
                        <a:alpha val="100000"/>
                      </a:srgbClr>
                    </a:gs>
                    <a:gs pos="100000">
                      <a:srgbClr val="FFFFFF">
                        <a:alpha val="100000"/>
                      </a:srgbClr>
                    </a:gs>
                  </a:gsLst>
                  <a:lin ang="0"/>
                </a:gradFill>
                <a:latin typeface="TT Lakes Neue Bold"/>
                <a:ea typeface="TT Lakes Neue Bold"/>
                <a:cs typeface="TT Lakes Neue Bold"/>
                <a:sym typeface="TT Lakes Neue Bold"/>
              </a:rPr>
              <a:t>TUJUAN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8531221" y="-2036750"/>
            <a:ext cx="9981859" cy="13795182"/>
            <a:chOff x="0" y="0"/>
            <a:chExt cx="2628967" cy="3633299"/>
          </a:xfrm>
        </p:grpSpPr>
        <p:sp>
          <p:nvSpPr>
            <p:cNvPr id="4" name="Freeform 4"/>
            <p:cNvSpPr/>
            <p:nvPr/>
          </p:nvSpPr>
          <p:spPr>
            <a:xfrm>
              <a:off x="0" y="0"/>
              <a:ext cx="2628967" cy="3633299"/>
            </a:xfrm>
            <a:custGeom>
              <a:avLst/>
              <a:gdLst/>
              <a:ahLst/>
              <a:cxnLst/>
              <a:rect l="l" t="t" r="r" b="b"/>
              <a:pathLst>
                <a:path w="2628967" h="3633299">
                  <a:moveTo>
                    <a:pt x="0" y="0"/>
                  </a:moveTo>
                  <a:lnTo>
                    <a:pt x="2628967" y="0"/>
                  </a:lnTo>
                  <a:lnTo>
                    <a:pt x="2628967" y="3633299"/>
                  </a:lnTo>
                  <a:lnTo>
                    <a:pt x="0" y="3633299"/>
                  </a:lnTo>
                  <a:close/>
                </a:path>
              </a:pathLst>
            </a:custGeom>
            <a:gradFill rotWithShape="1">
              <a:gsLst>
                <a:gs pos="0">
                  <a:srgbClr val="131F40">
                    <a:alpha val="75000"/>
                  </a:srgbClr>
                </a:gs>
                <a:gs pos="100000">
                  <a:srgbClr val="3D6D81">
                    <a:alpha val="75000"/>
                  </a:srgbClr>
                </a:gs>
              </a:gsLst>
              <a:lin ang="0"/>
            </a:gradFill>
          </p:spPr>
        </p:sp>
        <p:sp>
          <p:nvSpPr>
            <p:cNvPr id="5" name="TextBox 5"/>
            <p:cNvSpPr txBox="1"/>
            <p:nvPr/>
          </p:nvSpPr>
          <p:spPr>
            <a:xfrm>
              <a:off x="0" y="28575"/>
              <a:ext cx="2628967" cy="3604724"/>
            </a:xfrm>
            <a:prstGeom prst="rect">
              <a:avLst/>
            </a:prstGeom>
          </p:spPr>
          <p:txBody>
            <a:bodyPr lIns="50800" tIns="50800" rIns="50800" bIns="50800" rtlCol="0" anchor="ctr"/>
            <a:lstStyle/>
            <a:p>
              <a:pPr algn="ctr">
                <a:lnSpc>
                  <a:spcPts val="2181"/>
                </a:lnSpc>
              </a:pPr>
              <a:endParaRPr/>
            </a:p>
          </p:txBody>
        </p:sp>
      </p:grpSp>
      <p:sp>
        <p:nvSpPr>
          <p:cNvPr id="6" name="Freeform 6"/>
          <p:cNvSpPr/>
          <p:nvPr/>
        </p:nvSpPr>
        <p:spPr>
          <a:xfrm rot="-5400000">
            <a:off x="1300272" y="3327963"/>
            <a:ext cx="7421720" cy="5573037"/>
          </a:xfrm>
          <a:custGeom>
            <a:avLst/>
            <a:gdLst/>
            <a:ahLst/>
            <a:cxnLst/>
            <a:rect l="l" t="t" r="r" b="b"/>
            <a:pathLst>
              <a:path w="7421720" h="5573037">
                <a:moveTo>
                  <a:pt x="0" y="0"/>
                </a:moveTo>
                <a:lnTo>
                  <a:pt x="7421719" y="0"/>
                </a:lnTo>
                <a:lnTo>
                  <a:pt x="7421719" y="5573036"/>
                </a:lnTo>
                <a:lnTo>
                  <a:pt x="0" y="5573036"/>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2925279" y="3122331"/>
            <a:ext cx="4261262" cy="6013018"/>
            <a:chOff x="0" y="0"/>
            <a:chExt cx="660181" cy="931574"/>
          </a:xfrm>
        </p:grpSpPr>
        <p:sp>
          <p:nvSpPr>
            <p:cNvPr id="8" name="Freeform 8"/>
            <p:cNvSpPr/>
            <p:nvPr/>
          </p:nvSpPr>
          <p:spPr>
            <a:xfrm>
              <a:off x="0" y="0"/>
              <a:ext cx="660181" cy="931574"/>
            </a:xfrm>
            <a:custGeom>
              <a:avLst/>
              <a:gdLst/>
              <a:ahLst/>
              <a:cxnLst/>
              <a:rect l="l" t="t" r="r" b="b"/>
              <a:pathLst>
                <a:path w="660181" h="931574">
                  <a:moveTo>
                    <a:pt x="0" y="0"/>
                  </a:moveTo>
                  <a:lnTo>
                    <a:pt x="660181" y="0"/>
                  </a:lnTo>
                  <a:lnTo>
                    <a:pt x="660181" y="931574"/>
                  </a:lnTo>
                  <a:lnTo>
                    <a:pt x="0" y="931574"/>
                  </a:lnTo>
                  <a:close/>
                </a:path>
              </a:pathLst>
            </a:custGeom>
            <a:blipFill>
              <a:blip r:embed="rId4"/>
              <a:stretch>
                <a:fillRect l="-44072" r="-44072"/>
              </a:stretch>
            </a:blipFill>
          </p:spPr>
        </p:sp>
      </p:grpSp>
      <p:sp>
        <p:nvSpPr>
          <p:cNvPr id="9" name="TextBox 9"/>
          <p:cNvSpPr txBox="1"/>
          <p:nvPr/>
        </p:nvSpPr>
        <p:spPr>
          <a:xfrm>
            <a:off x="2692536" y="1431726"/>
            <a:ext cx="2690780"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KELOMPOK 4</a:t>
            </a:r>
          </a:p>
        </p:txBody>
      </p:sp>
      <p:sp>
        <p:nvSpPr>
          <p:cNvPr id="10" name="TextBox 10"/>
          <p:cNvSpPr txBox="1"/>
          <p:nvPr/>
        </p:nvSpPr>
        <p:spPr>
          <a:xfrm>
            <a:off x="16175678" y="1560323"/>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PAGE 04</a:t>
            </a:r>
          </a:p>
        </p:txBody>
      </p:sp>
      <p:sp>
        <p:nvSpPr>
          <p:cNvPr id="11" name="TextBox 11"/>
          <p:cNvSpPr txBox="1"/>
          <p:nvPr/>
        </p:nvSpPr>
        <p:spPr>
          <a:xfrm>
            <a:off x="9449807" y="3124895"/>
            <a:ext cx="8144688" cy="862431"/>
          </a:xfrm>
          <a:prstGeom prst="rect">
            <a:avLst/>
          </a:prstGeom>
        </p:spPr>
        <p:txBody>
          <a:bodyPr lIns="0" tIns="0" rIns="0" bIns="0" rtlCol="0" anchor="t">
            <a:spAutoFit/>
          </a:bodyPr>
          <a:lstStyle/>
          <a:p>
            <a:pPr algn="l">
              <a:lnSpc>
                <a:spcPts val="6674"/>
              </a:lnSpc>
              <a:spcBef>
                <a:spcPct val="0"/>
              </a:spcBef>
            </a:pPr>
            <a:r>
              <a:rPr lang="en-US" sz="6297" b="1">
                <a:solidFill>
                  <a:srgbClr val="FFFFFF"/>
                </a:solidFill>
                <a:latin typeface="TT Lakes Neue Bold"/>
                <a:ea typeface="TT Lakes Neue Bold"/>
                <a:cs typeface="TT Lakes Neue Bold"/>
                <a:sym typeface="TT Lakes Neue Bold"/>
              </a:rPr>
              <a:t>UMUM PROGRAM</a:t>
            </a:r>
          </a:p>
        </p:txBody>
      </p:sp>
      <p:sp>
        <p:nvSpPr>
          <p:cNvPr id="12" name="TextBox 12"/>
          <p:cNvSpPr txBox="1"/>
          <p:nvPr/>
        </p:nvSpPr>
        <p:spPr>
          <a:xfrm>
            <a:off x="9449807" y="2163114"/>
            <a:ext cx="6725871" cy="1167826"/>
          </a:xfrm>
          <a:prstGeom prst="rect">
            <a:avLst/>
          </a:prstGeom>
        </p:spPr>
        <p:txBody>
          <a:bodyPr lIns="0" tIns="0" rIns="0" bIns="0" rtlCol="0" anchor="t">
            <a:spAutoFit/>
          </a:bodyPr>
          <a:lstStyle/>
          <a:p>
            <a:pPr algn="l">
              <a:lnSpc>
                <a:spcPts val="8936"/>
              </a:lnSpc>
              <a:spcBef>
                <a:spcPct val="0"/>
              </a:spcBef>
            </a:pPr>
            <a:r>
              <a:rPr lang="en-US" sz="8430" b="1">
                <a:solidFill>
                  <a:srgbClr val="FEFEFE"/>
                </a:solidFill>
                <a:latin typeface="TT Lakes Neue Bold"/>
                <a:ea typeface="TT Lakes Neue Bold"/>
                <a:cs typeface="TT Lakes Neue Bold"/>
                <a:sym typeface="TT Lakes Neue Bold"/>
              </a:rPr>
              <a:t>STRUKTUR</a:t>
            </a:r>
          </a:p>
        </p:txBody>
      </p:sp>
      <p:graphicFrame>
        <p:nvGraphicFramePr>
          <p:cNvPr id="13" name="Table 13"/>
          <p:cNvGraphicFramePr>
            <a:graphicFrameLocks noGrp="1"/>
          </p:cNvGraphicFramePr>
          <p:nvPr/>
        </p:nvGraphicFramePr>
        <p:xfrm>
          <a:off x="8895242" y="4477624"/>
          <a:ext cx="9026477" cy="4657723"/>
        </p:xfrm>
        <a:graphic>
          <a:graphicData uri="http://schemas.openxmlformats.org/drawingml/2006/table">
            <a:tbl>
              <a:tblPr/>
              <a:tblGrid>
                <a:gridCol w="2403651">
                  <a:extLst>
                    <a:ext uri="{9D8B030D-6E8A-4147-A177-3AD203B41FA5}">
                      <a16:colId xmlns:a16="http://schemas.microsoft.com/office/drawing/2014/main" val="20000"/>
                    </a:ext>
                  </a:extLst>
                </a:gridCol>
                <a:gridCol w="2281856">
                  <a:extLst>
                    <a:ext uri="{9D8B030D-6E8A-4147-A177-3AD203B41FA5}">
                      <a16:colId xmlns:a16="http://schemas.microsoft.com/office/drawing/2014/main" val="20001"/>
                    </a:ext>
                  </a:extLst>
                </a:gridCol>
                <a:gridCol w="4340970">
                  <a:extLst>
                    <a:ext uri="{9D8B030D-6E8A-4147-A177-3AD203B41FA5}">
                      <a16:colId xmlns:a16="http://schemas.microsoft.com/office/drawing/2014/main" val="20002"/>
                    </a:ext>
                  </a:extLst>
                </a:gridCol>
              </a:tblGrid>
              <a:tr h="935363">
                <a:tc>
                  <a:txBody>
                    <a:bodyPr/>
                    <a:lstStyle/>
                    <a:p>
                      <a:pPr algn="ctr">
                        <a:lnSpc>
                          <a:spcPts val="2800"/>
                        </a:lnSpc>
                        <a:defRPr/>
                      </a:pPr>
                      <a:r>
                        <a:rPr lang="en-US" sz="2000" b="1">
                          <a:solidFill>
                            <a:srgbClr val="FFFFFF"/>
                          </a:solidFill>
                          <a:latin typeface="Open Sans Bold"/>
                          <a:ea typeface="Open Sans Bold"/>
                          <a:cs typeface="Open Sans Bold"/>
                          <a:sym typeface="Open Sans Bold"/>
                        </a:rPr>
                        <a:t>Bagian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BBDE"/>
                    </a:solidFill>
                  </a:tcPr>
                </a:tc>
                <a:tc>
                  <a:txBody>
                    <a:bodyPr/>
                    <a:lstStyle/>
                    <a:p>
                      <a:pPr algn="ctr">
                        <a:lnSpc>
                          <a:spcPts val="2800"/>
                        </a:lnSpc>
                        <a:defRPr/>
                      </a:pPr>
                      <a:r>
                        <a:rPr lang="en-US" sz="2000" b="1">
                          <a:solidFill>
                            <a:srgbClr val="FFFFFF"/>
                          </a:solidFill>
                          <a:latin typeface="Open Sans Bold"/>
                          <a:ea typeface="Open Sans Bold"/>
                          <a:cs typeface="Open Sans Bold"/>
                          <a:sym typeface="Open Sans Bold"/>
                        </a:rPr>
                        <a:t>Nama / Fungsi Utama</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BBDE"/>
                    </a:solidFill>
                  </a:tcPr>
                </a:tc>
                <a:tc>
                  <a:txBody>
                    <a:bodyPr/>
                    <a:lstStyle/>
                    <a:p>
                      <a:pPr algn="ctr">
                        <a:lnSpc>
                          <a:spcPts val="2800"/>
                        </a:lnSpc>
                        <a:defRPr/>
                      </a:pPr>
                      <a:r>
                        <a:rPr lang="en-US" sz="2000" b="1">
                          <a:solidFill>
                            <a:srgbClr val="FFFFFF"/>
                          </a:solidFill>
                          <a:latin typeface="Open Sans Bold"/>
                          <a:ea typeface="Open Sans Bold"/>
                          <a:cs typeface="Open Sans Bold"/>
                          <a:sym typeface="Open Sans Bold"/>
                        </a:rPr>
                        <a:t>Keterangan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BBDE"/>
                    </a:solidFill>
                  </a:tcPr>
                </a:tc>
                <a:extLst>
                  <a:ext uri="{0D108BD9-81ED-4DB2-BD59-A6C34878D82A}">
                    <a16:rowId xmlns:a16="http://schemas.microsoft.com/office/drawing/2014/main" val="10000"/>
                  </a:ext>
                </a:extLst>
              </a:tr>
              <a:tr h="744472">
                <a:tc>
                  <a:txBody>
                    <a:bodyPr/>
                    <a:lstStyle/>
                    <a:p>
                      <a:pPr algn="l">
                        <a:lnSpc>
                          <a:spcPts val="2100"/>
                        </a:lnSpc>
                        <a:defRPr/>
                      </a:pPr>
                      <a:r>
                        <a:rPr lang="en-US" sz="1500">
                          <a:solidFill>
                            <a:srgbClr val="FFFFFF"/>
                          </a:solidFill>
                          <a:latin typeface="Open Sans"/>
                          <a:ea typeface="Open Sans"/>
                          <a:cs typeface="Open Sans"/>
                          <a:sym typeface="Open Sans"/>
                        </a:rPr>
                        <a:t>ProfessionalSettingsWindow</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GUI pengaturan awal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Pengguna mengatur durasi kerja, istirahat, ambang deteksi kantuk, dll.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744472">
                <a:tc>
                  <a:txBody>
                    <a:bodyPr/>
                    <a:lstStyle/>
                    <a:p>
                      <a:pPr algn="l">
                        <a:lnSpc>
                          <a:spcPts val="2100"/>
                        </a:lnSpc>
                        <a:defRPr/>
                      </a:pPr>
                      <a:r>
                        <a:rPr lang="en-US" sz="1500">
                          <a:solidFill>
                            <a:srgbClr val="FFFFFF"/>
                          </a:solidFill>
                          <a:latin typeface="Open Sans"/>
                          <a:ea typeface="Open Sans"/>
                          <a:cs typeface="Open Sans"/>
                          <a:sym typeface="Open Sans"/>
                        </a:rPr>
                        <a:t>MonitoringWindow</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Tampilan utama kamera &amp; status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Menampilkan video, waktu kerja, status, dan jumlah wajah.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744472">
                <a:tc>
                  <a:txBody>
                    <a:bodyPr/>
                    <a:lstStyle/>
                    <a:p>
                      <a:pPr algn="l">
                        <a:lnSpc>
                          <a:spcPts val="2100"/>
                        </a:lnSpc>
                        <a:defRPr/>
                      </a:pPr>
                      <a:r>
                        <a:rPr lang="en-US" sz="1500">
                          <a:solidFill>
                            <a:srgbClr val="FFFFFF"/>
                          </a:solidFill>
                          <a:latin typeface="Open Sans"/>
                          <a:ea typeface="Open Sans"/>
                          <a:cs typeface="Open Sans"/>
                          <a:sym typeface="Open Sans"/>
                        </a:rPr>
                        <a:t>WorkMonitoringSystem</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Inti logika sistem monitoring</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Menangani deteksi wajah, kantuk, dan pengaturan mode kerja–istirahat.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744472">
                <a:tc>
                  <a:txBody>
                    <a:bodyPr/>
                    <a:lstStyle/>
                    <a:p>
                      <a:pPr algn="l">
                        <a:lnSpc>
                          <a:spcPts val="2100"/>
                        </a:lnSpc>
                        <a:defRPr/>
                      </a:pPr>
                      <a:r>
                        <a:rPr lang="en-US" sz="1500">
                          <a:solidFill>
                            <a:srgbClr val="FFFFFF"/>
                          </a:solidFill>
                          <a:latin typeface="Open Sans"/>
                          <a:ea typeface="Open Sans"/>
                          <a:cs typeface="Open Sans"/>
                          <a:sym typeface="Open Sans"/>
                        </a:rPr>
                        <a:t>Fungsi popup (_spawn_popup_process)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Membuat popup peringatan terpisah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Menampilkan jendela alert “Drowsiness” atau “Break Time”.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744472">
                <a:tc>
                  <a:txBody>
                    <a:bodyPr/>
                    <a:lstStyle/>
                    <a:p>
                      <a:pPr algn="l">
                        <a:lnSpc>
                          <a:spcPts val="2100"/>
                        </a:lnSpc>
                        <a:defRPr/>
                      </a:pPr>
                      <a:r>
                        <a:rPr lang="en-US" sz="1500">
                          <a:solidFill>
                            <a:srgbClr val="FFFFFF"/>
                          </a:solidFill>
                          <a:latin typeface="Open Sans"/>
                          <a:ea typeface="Open Sans"/>
                          <a:cs typeface="Open Sans"/>
                          <a:sym typeface="Open Sans"/>
                        </a:rPr>
                        <a:t>main()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Fungsi utama</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Menginisialisasi semua komponen dan menjalankan sistem.</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4088137" y="2809938"/>
            <a:ext cx="6342325" cy="6227010"/>
          </a:xfrm>
          <a:custGeom>
            <a:avLst/>
            <a:gdLst/>
            <a:ahLst/>
            <a:cxnLst/>
            <a:rect l="l" t="t" r="r" b="b"/>
            <a:pathLst>
              <a:path w="6342325" h="6227010">
                <a:moveTo>
                  <a:pt x="0" y="0"/>
                </a:moveTo>
                <a:lnTo>
                  <a:pt x="6342326" y="0"/>
                </a:lnTo>
                <a:lnTo>
                  <a:pt x="6342326" y="6227010"/>
                </a:lnTo>
                <a:lnTo>
                  <a:pt x="0" y="6227010"/>
                </a:lnTo>
                <a:lnTo>
                  <a:pt x="0" y="0"/>
                </a:lnTo>
                <a:close/>
              </a:path>
            </a:pathLst>
          </a:custGeom>
          <a:blipFill>
            <a:blip>
              <a:alphaModFix amt="68000"/>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15194931" y="3738920"/>
            <a:ext cx="4356595" cy="4356595"/>
            <a:chOff x="0" y="0"/>
            <a:chExt cx="14840029" cy="14840029"/>
          </a:xfrm>
        </p:grpSpPr>
        <p:sp>
          <p:nvSpPr>
            <p:cNvPr id="5" name="Freeform 5"/>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id="6" name="Freeform 6"/>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7" name="Freeform 7"/>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32961" r="-32961"/>
              </a:stretch>
            </a:blipFill>
          </p:spPr>
        </p:sp>
      </p:grpSp>
      <p:sp>
        <p:nvSpPr>
          <p:cNvPr id="8" name="Freeform 8"/>
          <p:cNvSpPr/>
          <p:nvPr/>
        </p:nvSpPr>
        <p:spPr>
          <a:xfrm>
            <a:off x="15990108" y="7290349"/>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sp>
      <p:graphicFrame>
        <p:nvGraphicFramePr>
          <p:cNvPr id="9" name="Table 9"/>
          <p:cNvGraphicFramePr>
            <a:graphicFrameLocks noGrp="1"/>
          </p:cNvGraphicFramePr>
          <p:nvPr/>
        </p:nvGraphicFramePr>
        <p:xfrm>
          <a:off x="306773" y="2809938"/>
          <a:ext cx="13930628" cy="6748600"/>
        </p:xfrm>
        <a:graphic>
          <a:graphicData uri="http://schemas.openxmlformats.org/drawingml/2006/table">
            <a:tbl>
              <a:tblPr/>
              <a:tblGrid>
                <a:gridCol w="1363481">
                  <a:extLst>
                    <a:ext uri="{9D8B030D-6E8A-4147-A177-3AD203B41FA5}">
                      <a16:colId xmlns:a16="http://schemas.microsoft.com/office/drawing/2014/main" val="20000"/>
                    </a:ext>
                  </a:extLst>
                </a:gridCol>
                <a:gridCol w="6042687">
                  <a:extLst>
                    <a:ext uri="{9D8B030D-6E8A-4147-A177-3AD203B41FA5}">
                      <a16:colId xmlns:a16="http://schemas.microsoft.com/office/drawing/2014/main" val="20001"/>
                    </a:ext>
                  </a:extLst>
                </a:gridCol>
                <a:gridCol w="6524459">
                  <a:extLst>
                    <a:ext uri="{9D8B030D-6E8A-4147-A177-3AD203B41FA5}">
                      <a16:colId xmlns:a16="http://schemas.microsoft.com/office/drawing/2014/main" val="20002"/>
                    </a:ext>
                  </a:extLst>
                </a:gridCol>
              </a:tblGrid>
              <a:tr h="896615">
                <a:tc>
                  <a:txBody>
                    <a:bodyPr/>
                    <a:lstStyle/>
                    <a:p>
                      <a:pPr algn="ctr">
                        <a:lnSpc>
                          <a:spcPts val="2660"/>
                        </a:lnSpc>
                        <a:defRPr/>
                      </a:pPr>
                      <a:r>
                        <a:rPr lang="en-US" sz="1900" b="1">
                          <a:solidFill>
                            <a:srgbClr val="000000"/>
                          </a:solidFill>
                          <a:latin typeface="Open Sans Bold"/>
                          <a:ea typeface="Open Sans Bold"/>
                          <a:cs typeface="Open Sans Bold"/>
                          <a:sym typeface="Open Sans Bold"/>
                        </a:rPr>
                        <a:t>Aspek</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73C7DD"/>
                    </a:solidFill>
                  </a:tcPr>
                </a:tc>
                <a:tc>
                  <a:txBody>
                    <a:bodyPr/>
                    <a:lstStyle/>
                    <a:p>
                      <a:pPr algn="ctr">
                        <a:lnSpc>
                          <a:spcPts val="2660"/>
                        </a:lnSpc>
                        <a:defRPr/>
                      </a:pPr>
                      <a:r>
                        <a:rPr lang="en-US" sz="1900" b="1">
                          <a:solidFill>
                            <a:srgbClr val="000000"/>
                          </a:solidFill>
                          <a:latin typeface="Open Sans Bold"/>
                          <a:ea typeface="Open Sans Bold"/>
                          <a:cs typeface="Open Sans Bold"/>
                          <a:sym typeface="Open Sans Bold"/>
                        </a:rPr>
                        <a:t>Haar Cascade Face Detection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73C7DD"/>
                    </a:solidFill>
                  </a:tcPr>
                </a:tc>
                <a:tc>
                  <a:txBody>
                    <a:bodyPr/>
                    <a:lstStyle/>
                    <a:p>
                      <a:pPr algn="ctr">
                        <a:lnSpc>
                          <a:spcPts val="2660"/>
                        </a:lnSpc>
                        <a:defRPr/>
                      </a:pPr>
                      <a:r>
                        <a:rPr lang="en-US" sz="1900" b="1">
                          <a:solidFill>
                            <a:srgbClr val="000000"/>
                          </a:solidFill>
                          <a:latin typeface="Open Sans Bold"/>
                          <a:ea typeface="Open Sans Bold"/>
                          <a:cs typeface="Open Sans Bold"/>
                          <a:sym typeface="Open Sans Bold"/>
                        </a:rPr>
                        <a:t>Drowsiness Detection (EAR &amp; MAR dengan FaceMesh)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73C7DD"/>
                    </a:solidFill>
                  </a:tcPr>
                </a:tc>
                <a:extLst>
                  <a:ext uri="{0D108BD9-81ED-4DB2-BD59-A6C34878D82A}">
                    <a16:rowId xmlns:a16="http://schemas.microsoft.com/office/drawing/2014/main" val="10000"/>
                  </a:ext>
                </a:extLst>
              </a:tr>
              <a:tr h="438769">
                <a:tc>
                  <a:txBody>
                    <a:bodyPr/>
                    <a:lstStyle/>
                    <a:p>
                      <a:pPr algn="l">
                        <a:lnSpc>
                          <a:spcPts val="1400"/>
                        </a:lnSpc>
                        <a:defRPr/>
                      </a:pPr>
                      <a:r>
                        <a:rPr lang="en-US" sz="1000">
                          <a:solidFill>
                            <a:srgbClr val="FFFFFF"/>
                          </a:solidFill>
                          <a:latin typeface="Open Sans"/>
                          <a:ea typeface="Open Sans"/>
                          <a:cs typeface="Open Sans"/>
                          <a:sym typeface="Open Sans"/>
                        </a:rPr>
                        <a:t>🎯 </a:t>
                      </a:r>
                      <a:r>
                        <a:rPr lang="en-US" sz="1000" b="1">
                          <a:solidFill>
                            <a:srgbClr val="FFFFFF"/>
                          </a:solidFill>
                          <a:latin typeface="Open Sans Bold"/>
                          <a:ea typeface="Open Sans Bold"/>
                          <a:cs typeface="Open Sans Bold"/>
                          <a:sym typeface="Open Sans Bold"/>
                        </a:rPr>
                        <a:t>Tujuan Utama</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1820"/>
                        </a:lnSpc>
                        <a:defRPr/>
                      </a:pPr>
                      <a:r>
                        <a:rPr lang="en-US" sz="1300">
                          <a:solidFill>
                            <a:srgbClr val="FFFFFF"/>
                          </a:solidFill>
                          <a:latin typeface="Open Sans"/>
                          <a:ea typeface="Open Sans"/>
                          <a:cs typeface="Open Sans"/>
                          <a:sym typeface="Open Sans"/>
                        </a:rPr>
                        <a:t>Mendeteksi </a:t>
                      </a:r>
                      <a:r>
                        <a:rPr lang="en-US" sz="1300" b="1">
                          <a:solidFill>
                            <a:srgbClr val="FFFFFF"/>
                          </a:solidFill>
                          <a:latin typeface="Open Sans Bold"/>
                          <a:ea typeface="Open Sans Bold"/>
                          <a:cs typeface="Open Sans Bold"/>
                          <a:sym typeface="Open Sans Bold"/>
                        </a:rPr>
                        <a:t>keberadaan wajah</a:t>
                      </a:r>
                      <a:r>
                        <a:rPr lang="en-US" sz="1300">
                          <a:solidFill>
                            <a:srgbClr val="FFFFFF"/>
                          </a:solidFill>
                          <a:latin typeface="Open Sans"/>
                          <a:ea typeface="Open Sans"/>
                          <a:cs typeface="Open Sans"/>
                          <a:sym typeface="Open Sans"/>
                        </a:rPr>
                        <a:t> dalam frame kamera.</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1820"/>
                        </a:lnSpc>
                        <a:defRPr/>
                      </a:pPr>
                      <a:r>
                        <a:rPr lang="en-US" sz="1300">
                          <a:solidFill>
                            <a:srgbClr val="FFFFFF"/>
                          </a:solidFill>
                          <a:latin typeface="Open Sans"/>
                          <a:ea typeface="Open Sans"/>
                          <a:cs typeface="Open Sans"/>
                          <a:sym typeface="Open Sans"/>
                        </a:rPr>
                        <a:t>Mendeteksi </a:t>
                      </a:r>
                      <a:r>
                        <a:rPr lang="en-US" sz="1300" b="1">
                          <a:solidFill>
                            <a:srgbClr val="FFFFFF"/>
                          </a:solidFill>
                          <a:latin typeface="Open Sans Bold"/>
                          <a:ea typeface="Open Sans Bold"/>
                          <a:cs typeface="Open Sans Bold"/>
                          <a:sym typeface="Open Sans Bold"/>
                        </a:rPr>
                        <a:t>tingkat kantuk atau kelelahan</a:t>
                      </a:r>
                      <a:r>
                        <a:rPr lang="en-US" sz="1300">
                          <a:solidFill>
                            <a:srgbClr val="FFFFFF"/>
                          </a:solidFill>
                          <a:latin typeface="Open Sans"/>
                          <a:ea typeface="Open Sans"/>
                          <a:cs typeface="Open Sans"/>
                          <a:sym typeface="Open Sans"/>
                        </a:rPr>
                        <a:t> pengguna dari ekspresi wajah.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953846">
                <a:tc>
                  <a:txBody>
                    <a:bodyPr/>
                    <a:lstStyle/>
                    <a:p>
                      <a:pPr algn="l">
                        <a:lnSpc>
                          <a:spcPts val="1400"/>
                        </a:lnSpc>
                        <a:defRPr/>
                      </a:pPr>
                      <a:r>
                        <a:rPr lang="en-US" sz="1000">
                          <a:solidFill>
                            <a:srgbClr val="FFFFFF"/>
                          </a:solidFill>
                          <a:latin typeface="Open Sans"/>
                          <a:ea typeface="Open Sans"/>
                          <a:cs typeface="Open Sans"/>
                          <a:sym typeface="Open Sans"/>
                        </a:rPr>
                        <a:t>🧠 </a:t>
                      </a:r>
                      <a:r>
                        <a:rPr lang="en-US" sz="1000" b="1">
                          <a:solidFill>
                            <a:srgbClr val="FFFFFF"/>
                          </a:solidFill>
                          <a:latin typeface="Open Sans Bold"/>
                          <a:ea typeface="Open Sans Bold"/>
                          <a:cs typeface="Open Sans Bold"/>
                          <a:sym typeface="Open Sans Bold"/>
                        </a:rPr>
                        <a:t>Algoritma Inti</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1820"/>
                        </a:lnSpc>
                        <a:defRPr/>
                      </a:pPr>
                      <a:r>
                        <a:rPr lang="en-US" sz="1300">
                          <a:solidFill>
                            <a:srgbClr val="FFFFFF"/>
                          </a:solidFill>
                          <a:latin typeface="Open Sans"/>
                          <a:ea typeface="Open Sans"/>
                          <a:cs typeface="Open Sans"/>
                          <a:sym typeface="Open Sans"/>
                        </a:rPr>
                        <a:t>Menggunakan </a:t>
                      </a:r>
                      <a:r>
                        <a:rPr lang="en-US" sz="1300" b="1">
                          <a:solidFill>
                            <a:srgbClr val="FFFFFF"/>
                          </a:solidFill>
                          <a:latin typeface="Open Sans Bold"/>
                          <a:ea typeface="Open Sans Bold"/>
                          <a:cs typeface="Open Sans Bold"/>
                          <a:sym typeface="Open Sans Bold"/>
                        </a:rPr>
                        <a:t>Haar Cascade Classifier</a:t>
                      </a:r>
                      <a:r>
                        <a:rPr lang="en-US" sz="1300">
                          <a:solidFill>
                            <a:srgbClr val="FFFFFF"/>
                          </a:solidFill>
                          <a:latin typeface="Open Sans"/>
                          <a:ea typeface="Open Sans"/>
                          <a:cs typeface="Open Sans"/>
                          <a:sym typeface="Open Sans"/>
                        </a:rPr>
                        <a:t>, model berbasis </a:t>
                      </a:r>
                      <a:r>
                        <a:rPr lang="en-US" sz="1300" i="1">
                          <a:solidFill>
                            <a:srgbClr val="FFFFFF"/>
                          </a:solidFill>
                          <a:latin typeface="Open Sans Italics"/>
                          <a:ea typeface="Open Sans Italics"/>
                          <a:cs typeface="Open Sans Italics"/>
                          <a:sym typeface="Open Sans Italics"/>
                        </a:rPr>
                        <a:t>machine learning</a:t>
                      </a:r>
                      <a:r>
                        <a:rPr lang="en-US" sz="1300">
                          <a:solidFill>
                            <a:srgbClr val="FFFFFF"/>
                          </a:solidFill>
                          <a:latin typeface="Open Sans"/>
                          <a:ea typeface="Open Sans"/>
                          <a:cs typeface="Open Sans"/>
                          <a:sym typeface="Open Sans"/>
                        </a:rPr>
                        <a:t> sederhana yang mengenali pola visual wajah.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1960"/>
                        </a:lnSpc>
                        <a:defRPr/>
                      </a:pPr>
                      <a:r>
                        <a:rPr lang="en-US" sz="1400">
                          <a:solidFill>
                            <a:srgbClr val="FFFFFF"/>
                          </a:solidFill>
                          <a:latin typeface="Open Sans"/>
                          <a:ea typeface="Open Sans"/>
                          <a:cs typeface="Open Sans"/>
                          <a:sym typeface="Open Sans"/>
                        </a:rPr>
                        <a:t>Menggunakan </a:t>
                      </a:r>
                      <a:r>
                        <a:rPr lang="en-US" sz="1400" b="1">
                          <a:solidFill>
                            <a:srgbClr val="FFFFFF"/>
                          </a:solidFill>
                          <a:latin typeface="Open Sans Bold"/>
                          <a:ea typeface="Open Sans Bold"/>
                          <a:cs typeface="Open Sans Bold"/>
                          <a:sym typeface="Open Sans Bold"/>
                        </a:rPr>
                        <a:t>MediaPipe FaceMesh</a:t>
                      </a:r>
                      <a:r>
                        <a:rPr lang="en-US" sz="1400">
                          <a:solidFill>
                            <a:srgbClr val="FFFFFF"/>
                          </a:solidFill>
                          <a:latin typeface="Open Sans"/>
                          <a:ea typeface="Open Sans"/>
                          <a:cs typeface="Open Sans"/>
                          <a:sym typeface="Open Sans"/>
                        </a:rPr>
                        <a:t> untuk mendeteksi titik-titik wajah (</a:t>
                      </a:r>
                      <a:r>
                        <a:rPr lang="en-US" sz="1400" i="1">
                          <a:solidFill>
                            <a:srgbClr val="FFFFFF"/>
                          </a:solidFill>
                          <a:latin typeface="Open Sans Italics"/>
                          <a:ea typeface="Open Sans Italics"/>
                          <a:cs typeface="Open Sans Italics"/>
                          <a:sym typeface="Open Sans Italics"/>
                        </a:rPr>
                        <a:t>landmarks</a:t>
                      </a:r>
                      <a:r>
                        <a:rPr lang="en-US" sz="1400">
                          <a:solidFill>
                            <a:srgbClr val="FFFFFF"/>
                          </a:solidFill>
                          <a:latin typeface="Open Sans"/>
                          <a:ea typeface="Open Sans"/>
                          <a:cs typeface="Open Sans"/>
                          <a:sym typeface="Open Sans"/>
                        </a:rPr>
                        <a:t>), lalu menghitung rasio mata dan mulut (</a:t>
                      </a:r>
                      <a:r>
                        <a:rPr lang="en-US" sz="1400" b="1">
                          <a:solidFill>
                            <a:srgbClr val="FFFFFF"/>
                          </a:solidFill>
                          <a:latin typeface="Open Sans Bold"/>
                          <a:ea typeface="Open Sans Bold"/>
                          <a:cs typeface="Open Sans Bold"/>
                          <a:sym typeface="Open Sans Bold"/>
                        </a:rPr>
                        <a:t>EAR, MAR</a:t>
                      </a:r>
                      <a:r>
                        <a:rPr lang="en-US" sz="1400">
                          <a:solidFill>
                            <a:srgbClr val="FFFFFF"/>
                          </a:solidFill>
                          <a:latin typeface="Open Sans"/>
                          <a:ea typeface="Open Sans"/>
                          <a:cs typeface="Open Sans"/>
                          <a:sym typeface="Open Sans"/>
                        </a:rPr>
                        <a:t>) untuk mendeteksi kantuk.</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742456">
                <a:tc>
                  <a:txBody>
                    <a:bodyPr/>
                    <a:lstStyle/>
                    <a:p>
                      <a:pPr algn="l">
                        <a:lnSpc>
                          <a:spcPts val="1400"/>
                        </a:lnSpc>
                        <a:defRPr/>
                      </a:pPr>
                      <a:r>
                        <a:rPr lang="en-US" sz="1000">
                          <a:solidFill>
                            <a:srgbClr val="FFFFFF"/>
                          </a:solidFill>
                          <a:latin typeface="Open Sans"/>
                          <a:ea typeface="Open Sans"/>
                          <a:cs typeface="Open Sans"/>
                          <a:sym typeface="Open Sans"/>
                        </a:rPr>
                        <a:t>👁️ </a:t>
                      </a:r>
                      <a:r>
                        <a:rPr lang="en-US" sz="1000" b="1">
                          <a:solidFill>
                            <a:srgbClr val="FFFFFF"/>
                          </a:solidFill>
                          <a:latin typeface="Open Sans Bold"/>
                          <a:ea typeface="Open Sans Bold"/>
                          <a:cs typeface="Open Sans Bold"/>
                          <a:sym typeface="Open Sans Bold"/>
                        </a:rPr>
                        <a:t>Data yang Digunakan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Hanya bentuk/geometri wajah secara umum.</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Posisi detail dari kelopak mata, pupil, mulut, dan wajah secara presisi.</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742456">
                <a:tc>
                  <a:txBody>
                    <a:bodyPr/>
                    <a:lstStyle/>
                    <a:p>
                      <a:pPr algn="l">
                        <a:lnSpc>
                          <a:spcPts val="1400"/>
                        </a:lnSpc>
                        <a:defRPr/>
                      </a:pPr>
                      <a:r>
                        <a:rPr lang="en-US" sz="1000">
                          <a:solidFill>
                            <a:srgbClr val="FFFFFF"/>
                          </a:solidFill>
                          <a:latin typeface="Open Sans"/>
                          <a:ea typeface="Open Sans"/>
                          <a:cs typeface="Open Sans"/>
                          <a:sym typeface="Open Sans"/>
                        </a:rPr>
                        <a:t>⚙️ </a:t>
                      </a:r>
                      <a:r>
                        <a:rPr lang="en-US" sz="1000" b="1">
                          <a:solidFill>
                            <a:srgbClr val="FFFFFF"/>
                          </a:solidFill>
                          <a:latin typeface="Open Sans Bold"/>
                          <a:ea typeface="Open Sans Bold"/>
                          <a:cs typeface="Open Sans Bold"/>
                          <a:sym typeface="Open Sans Bold"/>
                        </a:rPr>
                        <a:t>Output / Hasil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Menentukan apakah wajah terdeteksi dan posisinya (x, y, w, 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1400"/>
                        </a:lnSpc>
                        <a:defRPr/>
                      </a:pPr>
                      <a:r>
                        <a:rPr lang="en-US" sz="1000">
                          <a:solidFill>
                            <a:srgbClr val="FFFFFF"/>
                          </a:solidFill>
                          <a:latin typeface="Open Sans"/>
                          <a:ea typeface="Open Sans"/>
                          <a:cs typeface="Open Sans"/>
                          <a:sym typeface="Open Sans"/>
                        </a:rPr>
                        <a:t>Memberikan status kantuk: </a:t>
                      </a:r>
                      <a:r>
                        <a:rPr lang="en-US" sz="1000" b="1">
                          <a:solidFill>
                            <a:srgbClr val="FFFFFF"/>
                          </a:solidFill>
                          <a:latin typeface="Open Sans Bold"/>
                          <a:ea typeface="Open Sans Bold"/>
                          <a:cs typeface="Open Sans Bold"/>
                          <a:sym typeface="Open Sans Bold"/>
                        </a:rPr>
                        <a:t>Normal / Mengantuk / Menguap / Mata Tertutup</a:t>
                      </a:r>
                      <a:r>
                        <a:rPr lang="en-US" sz="1000">
                          <a:solidFill>
                            <a:srgbClr val="FFFFFF"/>
                          </a:solidFill>
                          <a:latin typeface="Open Sans"/>
                          <a:ea typeface="Open Sans"/>
                          <a:cs typeface="Open Sans"/>
                          <a:sym typeface="Open Sans"/>
                        </a:rPr>
                        <a:t>, dsb.</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744000">
                <a:tc>
                  <a:txBody>
                    <a:bodyPr/>
                    <a:lstStyle/>
                    <a:p>
                      <a:pPr algn="l">
                        <a:lnSpc>
                          <a:spcPts val="1400"/>
                        </a:lnSpc>
                        <a:defRPr/>
                      </a:pPr>
                      <a:r>
                        <a:rPr lang="en-US" sz="1000">
                          <a:solidFill>
                            <a:srgbClr val="FFFFFF"/>
                          </a:solidFill>
                          <a:latin typeface="Open Sans"/>
                          <a:ea typeface="Open Sans"/>
                          <a:cs typeface="Open Sans"/>
                          <a:sym typeface="Open Sans"/>
                        </a:rPr>
                        <a:t>📊 </a:t>
                      </a:r>
                      <a:r>
                        <a:rPr lang="en-US" sz="1000" b="1">
                          <a:solidFill>
                            <a:srgbClr val="FFFFFF"/>
                          </a:solidFill>
                          <a:latin typeface="Open Sans Bold"/>
                          <a:ea typeface="Open Sans Bold"/>
                          <a:cs typeface="Open Sans Bold"/>
                          <a:sym typeface="Open Sans Bold"/>
                        </a:rPr>
                        <a:t>Fungsi dalam Program</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Digunakan untuk mendeteksi kehadiran pegawai dan memicu transisi status kerja-istirahat.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1400"/>
                        </a:lnSpc>
                        <a:defRPr/>
                      </a:pPr>
                      <a:r>
                        <a:rPr lang="en-US" sz="1000">
                          <a:solidFill>
                            <a:srgbClr val="FFFFFF"/>
                          </a:solidFill>
                          <a:latin typeface="Open Sans"/>
                          <a:ea typeface="Open Sans"/>
                          <a:cs typeface="Open Sans"/>
                          <a:sym typeface="Open Sans"/>
                        </a:rPr>
                        <a:t>Digunakan untuk mendeteksi </a:t>
                      </a:r>
                      <a:r>
                        <a:rPr lang="en-US" sz="1000" b="1">
                          <a:solidFill>
                            <a:srgbClr val="FFFFFF"/>
                          </a:solidFill>
                          <a:latin typeface="Open Sans Bold"/>
                          <a:ea typeface="Open Sans Bold"/>
                          <a:cs typeface="Open Sans Bold"/>
                          <a:sym typeface="Open Sans Bold"/>
                        </a:rPr>
                        <a:t>tingkat kantuk saat bekerja</a:t>
                      </a:r>
                      <a:r>
                        <a:rPr lang="en-US" sz="1000">
                          <a:solidFill>
                            <a:srgbClr val="FFFFFF"/>
                          </a:solidFill>
                          <a:latin typeface="Open Sans"/>
                          <a:ea typeface="Open Sans"/>
                          <a:cs typeface="Open Sans"/>
                          <a:sym typeface="Open Sans"/>
                        </a:rPr>
                        <a:t> (agar sistem bisa memberikan peringatan visual/suara).</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744000">
                <a:tc>
                  <a:txBody>
                    <a:bodyPr/>
                    <a:lstStyle/>
                    <a:p>
                      <a:pPr algn="l">
                        <a:lnSpc>
                          <a:spcPts val="1400"/>
                        </a:lnSpc>
                        <a:defRPr/>
                      </a:pPr>
                      <a:r>
                        <a:rPr lang="en-US" sz="1000">
                          <a:solidFill>
                            <a:srgbClr val="FFFFFF"/>
                          </a:solidFill>
                          <a:latin typeface="Open Sans"/>
                          <a:ea typeface="Open Sans"/>
                          <a:cs typeface="Open Sans"/>
                          <a:sym typeface="Open Sans"/>
                        </a:rPr>
                        <a:t>💡 </a:t>
                      </a:r>
                      <a:r>
                        <a:rPr lang="en-US" sz="1000" b="1">
                          <a:solidFill>
                            <a:srgbClr val="FFFFFF"/>
                          </a:solidFill>
                          <a:latin typeface="Open Sans Bold"/>
                          <a:ea typeface="Open Sans Bold"/>
                          <a:cs typeface="Open Sans Bold"/>
                          <a:sym typeface="Open Sans Bold"/>
                        </a:rPr>
                        <a:t>Kelebihan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Cepat, ringan, dan cocok untuk deteksi wajah real-time.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Lebih informatif — mampu mengenali kondisi kelelahan dan fokus pengguna.</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r h="742456">
                <a:tc>
                  <a:txBody>
                    <a:bodyPr/>
                    <a:lstStyle/>
                    <a:p>
                      <a:pPr algn="l">
                        <a:lnSpc>
                          <a:spcPts val="1400"/>
                        </a:lnSpc>
                        <a:defRPr/>
                      </a:pPr>
                      <a:r>
                        <a:rPr lang="en-US" sz="1000">
                          <a:solidFill>
                            <a:srgbClr val="FFFFFF"/>
                          </a:solidFill>
                          <a:latin typeface="Open Sans"/>
                          <a:ea typeface="Open Sans"/>
                          <a:cs typeface="Open Sans"/>
                          <a:sym typeface="Open Sans"/>
                        </a:rPr>
                        <a:t>⚠️ </a:t>
                      </a:r>
                      <a:r>
                        <a:rPr lang="en-US" sz="1000" b="1">
                          <a:solidFill>
                            <a:srgbClr val="FFFFFF"/>
                          </a:solidFill>
                          <a:latin typeface="Open Sans Bold"/>
                          <a:ea typeface="Open Sans Bold"/>
                          <a:cs typeface="Open Sans Bold"/>
                          <a:sym typeface="Open Sans Bold"/>
                        </a:rPr>
                        <a:t>Keterbatasan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Tidak bisa mendeteksi ekspresi atau kondisi wajah.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Lebih berat secara komputasi dan memerlukan pencahayaan stabil.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7"/>
                  </a:ext>
                </a:extLst>
              </a:tr>
              <a:tr h="744000">
                <a:tc>
                  <a:txBody>
                    <a:bodyPr/>
                    <a:lstStyle/>
                    <a:p>
                      <a:pPr algn="l">
                        <a:lnSpc>
                          <a:spcPts val="1400"/>
                        </a:lnSpc>
                        <a:defRPr/>
                      </a:pPr>
                      <a:r>
                        <a:rPr lang="en-US" sz="1000">
                          <a:solidFill>
                            <a:srgbClr val="FFFFFF"/>
                          </a:solidFill>
                          <a:latin typeface="Open Sans"/>
                          <a:ea typeface="Open Sans"/>
                          <a:cs typeface="Open Sans"/>
                          <a:sym typeface="Open Sans"/>
                        </a:rPr>
                        <a:t>🔗 </a:t>
                      </a:r>
                      <a:r>
                        <a:rPr lang="en-US" sz="1000" b="1">
                          <a:solidFill>
                            <a:srgbClr val="FFFFFF"/>
                          </a:solidFill>
                          <a:latin typeface="Open Sans Bold"/>
                          <a:ea typeface="Open Sans Bold"/>
                          <a:cs typeface="Open Sans Bold"/>
                          <a:sym typeface="Open Sans Bold"/>
                        </a:rPr>
                        <a:t>Integrasi pada Sistem</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Berfungsi sebagai dasar “presence detection” (apakah pengguna ada di depan kamera).</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FFFFFF"/>
                          </a:solidFill>
                          <a:latin typeface="Open Sans"/>
                          <a:ea typeface="Open Sans"/>
                          <a:cs typeface="Open Sans"/>
                          <a:sym typeface="Open Sans"/>
                        </a:rPr>
                        <a:t>Digunakan sebagai “behavioral detection” (apakah pengguna masih sadar atau mulai mengantuk).</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0" name="TextBox 10"/>
          <p:cNvSpPr txBox="1"/>
          <p:nvPr/>
        </p:nvSpPr>
        <p:spPr>
          <a:xfrm>
            <a:off x="2692536" y="1431726"/>
            <a:ext cx="2661675"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KELOMPOK  5</a:t>
            </a:r>
          </a:p>
        </p:txBody>
      </p:sp>
      <p:sp>
        <p:nvSpPr>
          <p:cNvPr id="11" name="TextBox 11"/>
          <p:cNvSpPr txBox="1"/>
          <p:nvPr/>
        </p:nvSpPr>
        <p:spPr>
          <a:xfrm>
            <a:off x="16175678" y="1560323"/>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PAGE 05</a:t>
            </a:r>
          </a:p>
        </p:txBody>
      </p:sp>
      <p:sp>
        <p:nvSpPr>
          <p:cNvPr id="12" name="TextBox 12"/>
          <p:cNvSpPr txBox="1"/>
          <p:nvPr/>
        </p:nvSpPr>
        <p:spPr>
          <a:xfrm>
            <a:off x="7272086" y="1761675"/>
            <a:ext cx="8801493" cy="694449"/>
          </a:xfrm>
          <a:prstGeom prst="rect">
            <a:avLst/>
          </a:prstGeom>
        </p:spPr>
        <p:txBody>
          <a:bodyPr lIns="0" tIns="0" rIns="0" bIns="0" rtlCol="0" anchor="t">
            <a:spAutoFit/>
          </a:bodyPr>
          <a:lstStyle/>
          <a:p>
            <a:pPr algn="l">
              <a:lnSpc>
                <a:spcPts val="5304"/>
              </a:lnSpc>
              <a:spcBef>
                <a:spcPct val="0"/>
              </a:spcBef>
            </a:pPr>
            <a:r>
              <a:rPr lang="en-US" sz="5004" b="1">
                <a:solidFill>
                  <a:srgbClr val="84E3F8"/>
                </a:solidFill>
                <a:latin typeface="TT Lakes Neue Bold"/>
                <a:ea typeface="TT Lakes Neue Bold"/>
                <a:cs typeface="TT Lakes Neue Bold"/>
                <a:sym typeface="TT Lakes Neue Bold"/>
              </a:rPr>
              <a:t>PERBEDAAN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16175678" y="1560323"/>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PAGE 06</a:t>
            </a:r>
          </a:p>
        </p:txBody>
      </p:sp>
      <p:grpSp>
        <p:nvGrpSpPr>
          <p:cNvPr id="3" name="Group 3"/>
          <p:cNvGrpSpPr/>
          <p:nvPr/>
        </p:nvGrpSpPr>
        <p:grpSpPr>
          <a:xfrm>
            <a:off x="-200474" y="4192382"/>
            <a:ext cx="18688947" cy="6943960"/>
            <a:chOff x="0" y="0"/>
            <a:chExt cx="4922192" cy="1828862"/>
          </a:xfrm>
        </p:grpSpPr>
        <p:sp>
          <p:nvSpPr>
            <p:cNvPr id="4" name="Freeform 4"/>
            <p:cNvSpPr/>
            <p:nvPr/>
          </p:nvSpPr>
          <p:spPr>
            <a:xfrm>
              <a:off x="0" y="0"/>
              <a:ext cx="4922192" cy="1828862"/>
            </a:xfrm>
            <a:custGeom>
              <a:avLst/>
              <a:gdLst/>
              <a:ahLst/>
              <a:cxnLst/>
              <a:rect l="l" t="t" r="r" b="b"/>
              <a:pathLst>
                <a:path w="4922192" h="1828862">
                  <a:moveTo>
                    <a:pt x="0" y="0"/>
                  </a:moveTo>
                  <a:lnTo>
                    <a:pt x="4922192" y="0"/>
                  </a:lnTo>
                  <a:lnTo>
                    <a:pt x="4922192" y="1828862"/>
                  </a:lnTo>
                  <a:lnTo>
                    <a:pt x="0" y="1828862"/>
                  </a:lnTo>
                  <a:close/>
                </a:path>
              </a:pathLst>
            </a:custGeom>
            <a:gradFill rotWithShape="1">
              <a:gsLst>
                <a:gs pos="0">
                  <a:srgbClr val="131F40">
                    <a:alpha val="75000"/>
                  </a:srgbClr>
                </a:gs>
                <a:gs pos="100000">
                  <a:srgbClr val="3D6D81">
                    <a:alpha val="75000"/>
                  </a:srgbClr>
                </a:gs>
              </a:gsLst>
              <a:lin ang="0"/>
            </a:gradFill>
          </p:spPr>
        </p:sp>
        <p:sp>
          <p:nvSpPr>
            <p:cNvPr id="5" name="TextBox 5"/>
            <p:cNvSpPr txBox="1"/>
            <p:nvPr/>
          </p:nvSpPr>
          <p:spPr>
            <a:xfrm>
              <a:off x="0" y="28575"/>
              <a:ext cx="4922192" cy="1800287"/>
            </a:xfrm>
            <a:prstGeom prst="rect">
              <a:avLst/>
            </a:prstGeom>
          </p:spPr>
          <p:txBody>
            <a:bodyPr lIns="50800" tIns="50800" rIns="50800" bIns="50800" rtlCol="0" anchor="ctr"/>
            <a:lstStyle/>
            <a:p>
              <a:pPr algn="ctr">
                <a:lnSpc>
                  <a:spcPts val="2181"/>
                </a:lnSpc>
              </a:pPr>
              <a:endParaRPr/>
            </a:p>
          </p:txBody>
        </p:sp>
      </p:grpSp>
      <p:sp>
        <p:nvSpPr>
          <p:cNvPr id="6" name="Freeform 6"/>
          <p:cNvSpPr/>
          <p:nvPr/>
        </p:nvSpPr>
        <p:spPr>
          <a:xfrm>
            <a:off x="1711939" y="4813380"/>
            <a:ext cx="887220" cy="871089"/>
          </a:xfrm>
          <a:custGeom>
            <a:avLst/>
            <a:gdLst/>
            <a:ahLst/>
            <a:cxnLst/>
            <a:rect l="l" t="t" r="r" b="b"/>
            <a:pathLst>
              <a:path w="887220" h="871089">
                <a:moveTo>
                  <a:pt x="0" y="0"/>
                </a:moveTo>
                <a:lnTo>
                  <a:pt x="887220" y="0"/>
                </a:lnTo>
                <a:lnTo>
                  <a:pt x="887220" y="871089"/>
                </a:lnTo>
                <a:lnTo>
                  <a:pt x="0" y="871089"/>
                </a:lnTo>
                <a:lnTo>
                  <a:pt x="0" y="0"/>
                </a:lnTo>
                <a:close/>
              </a:path>
            </a:pathLst>
          </a:custGeom>
          <a:blipFill>
            <a:blip>
              <a:alphaModFix amt="72000"/>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2155549" y="5131567"/>
            <a:ext cx="283352" cy="263292"/>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1.</a:t>
            </a:r>
          </a:p>
        </p:txBody>
      </p:sp>
      <p:sp>
        <p:nvSpPr>
          <p:cNvPr id="8" name="TextBox 8"/>
          <p:cNvSpPr txBox="1"/>
          <p:nvPr/>
        </p:nvSpPr>
        <p:spPr>
          <a:xfrm>
            <a:off x="2862199" y="5122042"/>
            <a:ext cx="3811192" cy="590377"/>
          </a:xfrm>
          <a:prstGeom prst="rect">
            <a:avLst/>
          </a:prstGeom>
        </p:spPr>
        <p:txBody>
          <a:bodyPr lIns="0" tIns="0" rIns="0" bIns="0" rtlCol="0" anchor="t">
            <a:spAutoFit/>
          </a:bodyPr>
          <a:lstStyle/>
          <a:p>
            <a:pPr algn="l">
              <a:lnSpc>
                <a:spcPts val="2261"/>
              </a:lnSpc>
              <a:spcBef>
                <a:spcPct val="0"/>
              </a:spcBef>
            </a:pPr>
            <a:r>
              <a:rPr lang="en-US" sz="2133" b="1">
                <a:solidFill>
                  <a:srgbClr val="FFFFFF"/>
                </a:solidFill>
                <a:latin typeface="Raleway Bold"/>
                <a:ea typeface="Raleway Bold"/>
                <a:cs typeface="Raleway Bold"/>
                <a:sym typeface="Raleway Bold"/>
              </a:rPr>
              <a:t>KELAS WORKMONITORINGSYSTEM</a:t>
            </a:r>
          </a:p>
        </p:txBody>
      </p:sp>
      <p:sp>
        <p:nvSpPr>
          <p:cNvPr id="9" name="TextBox 9"/>
          <p:cNvSpPr txBox="1"/>
          <p:nvPr/>
        </p:nvSpPr>
        <p:spPr>
          <a:xfrm>
            <a:off x="2862199" y="6072259"/>
            <a:ext cx="3811192" cy="2503566"/>
          </a:xfrm>
          <a:prstGeom prst="rect">
            <a:avLst/>
          </a:prstGeom>
        </p:spPr>
        <p:txBody>
          <a:bodyPr lIns="0" tIns="0" rIns="0" bIns="0" rtlCol="0" anchor="t">
            <a:spAutoFit/>
          </a:bodyPr>
          <a:lstStyle/>
          <a:p>
            <a:pPr algn="l">
              <a:lnSpc>
                <a:spcPts val="2181"/>
              </a:lnSpc>
            </a:pPr>
            <a:r>
              <a:rPr lang="en-US" sz="2058" b="1">
                <a:solidFill>
                  <a:srgbClr val="FFFFFF"/>
                </a:solidFill>
                <a:latin typeface="Raleway Semi-Bold"/>
                <a:ea typeface="Raleway Semi-Bold"/>
                <a:cs typeface="Raleway Semi-Bold"/>
                <a:sym typeface="Raleway Semi-Bold"/>
              </a:rPr>
              <a:t>Kelas ini adalah inti program yang mengatur semua logika kerja sistem:</a:t>
            </a:r>
          </a:p>
          <a:p>
            <a:pPr marL="444322" lvl="1" indent="-222161" algn="l">
              <a:lnSpc>
                <a:spcPts val="2181"/>
              </a:lnSpc>
              <a:buFont typeface="Arial"/>
              <a:buChar char="•"/>
            </a:pPr>
            <a:r>
              <a:rPr lang="en-US" sz="2058" b="1">
                <a:solidFill>
                  <a:srgbClr val="FFFFFF"/>
                </a:solidFill>
                <a:latin typeface="Raleway Semi-Bold"/>
                <a:ea typeface="Raleway Semi-Bold"/>
                <a:cs typeface="Raleway Semi-Bold"/>
                <a:sym typeface="Raleway Semi-Bold"/>
              </a:rPr>
              <a:t>Deteksi wajah.</a:t>
            </a:r>
          </a:p>
          <a:p>
            <a:pPr marL="444322" lvl="1" indent="-222161" algn="l">
              <a:lnSpc>
                <a:spcPts val="2181"/>
              </a:lnSpc>
              <a:buFont typeface="Arial"/>
              <a:buChar char="•"/>
            </a:pPr>
            <a:r>
              <a:rPr lang="en-US" sz="2058" b="1">
                <a:solidFill>
                  <a:srgbClr val="FFFFFF"/>
                </a:solidFill>
                <a:latin typeface="Raleway Semi-Bold"/>
                <a:ea typeface="Raleway Semi-Bold"/>
                <a:cs typeface="Raleway Semi-Bold"/>
                <a:sym typeface="Raleway Semi-Bold"/>
              </a:rPr>
              <a:t>Pengaturan waktu.</a:t>
            </a:r>
          </a:p>
          <a:p>
            <a:pPr marL="444322" lvl="1" indent="-222161" algn="l">
              <a:lnSpc>
                <a:spcPts val="2181"/>
              </a:lnSpc>
              <a:buFont typeface="Arial"/>
              <a:buChar char="•"/>
            </a:pPr>
            <a:r>
              <a:rPr lang="en-US" sz="2058" b="1">
                <a:solidFill>
                  <a:srgbClr val="FFFFFF"/>
                </a:solidFill>
                <a:latin typeface="Raleway Semi-Bold"/>
                <a:ea typeface="Raleway Semi-Bold"/>
                <a:cs typeface="Raleway Semi-Bold"/>
                <a:sym typeface="Raleway Semi-Bold"/>
              </a:rPr>
              <a:t>Transisi antar mode (kerja, istirahat, persiapan).</a:t>
            </a:r>
          </a:p>
          <a:p>
            <a:pPr marL="444322" lvl="1" indent="-222161" algn="l">
              <a:lnSpc>
                <a:spcPts val="2181"/>
              </a:lnSpc>
              <a:spcBef>
                <a:spcPct val="0"/>
              </a:spcBef>
              <a:buFont typeface="Arial"/>
              <a:buChar char="•"/>
            </a:pPr>
            <a:r>
              <a:rPr lang="en-US" sz="2058" b="1">
                <a:solidFill>
                  <a:srgbClr val="FFFFFF"/>
                </a:solidFill>
                <a:latin typeface="Raleway Semi-Bold"/>
                <a:ea typeface="Raleway Semi-Bold"/>
                <a:cs typeface="Raleway Semi-Bold"/>
                <a:sym typeface="Raleway Semi-Bold"/>
              </a:rPr>
              <a:t>Tampilan status pada layar.</a:t>
            </a:r>
          </a:p>
        </p:txBody>
      </p:sp>
      <p:sp>
        <p:nvSpPr>
          <p:cNvPr id="10" name="Freeform 10"/>
          <p:cNvSpPr/>
          <p:nvPr/>
        </p:nvSpPr>
        <p:spPr>
          <a:xfrm>
            <a:off x="6940091" y="4813380"/>
            <a:ext cx="887220" cy="871089"/>
          </a:xfrm>
          <a:custGeom>
            <a:avLst/>
            <a:gdLst/>
            <a:ahLst/>
            <a:cxnLst/>
            <a:rect l="l" t="t" r="r" b="b"/>
            <a:pathLst>
              <a:path w="887220" h="871089">
                <a:moveTo>
                  <a:pt x="0" y="0"/>
                </a:moveTo>
                <a:lnTo>
                  <a:pt x="887220" y="0"/>
                </a:lnTo>
                <a:lnTo>
                  <a:pt x="887220" y="871089"/>
                </a:lnTo>
                <a:lnTo>
                  <a:pt x="0" y="871089"/>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7383701" y="5131567"/>
            <a:ext cx="283352" cy="263292"/>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2.</a:t>
            </a:r>
          </a:p>
        </p:txBody>
      </p:sp>
      <p:sp>
        <p:nvSpPr>
          <p:cNvPr id="12" name="TextBox 12"/>
          <p:cNvSpPr txBox="1"/>
          <p:nvPr/>
        </p:nvSpPr>
        <p:spPr>
          <a:xfrm>
            <a:off x="8090352" y="5122042"/>
            <a:ext cx="2762528" cy="304627"/>
          </a:xfrm>
          <a:prstGeom prst="rect">
            <a:avLst/>
          </a:prstGeom>
        </p:spPr>
        <p:txBody>
          <a:bodyPr lIns="0" tIns="0" rIns="0" bIns="0" rtlCol="0" anchor="t">
            <a:spAutoFit/>
          </a:bodyPr>
          <a:lstStyle/>
          <a:p>
            <a:pPr algn="l">
              <a:lnSpc>
                <a:spcPts val="2261"/>
              </a:lnSpc>
              <a:spcBef>
                <a:spcPct val="0"/>
              </a:spcBef>
            </a:pPr>
            <a:r>
              <a:rPr lang="en-US" sz="2133" b="1">
                <a:solidFill>
                  <a:srgbClr val="FFFFFF"/>
                </a:solidFill>
                <a:latin typeface="Raleway Bold"/>
                <a:ea typeface="Raleway Bold"/>
                <a:cs typeface="Raleway Bold"/>
                <a:sym typeface="Raleway Bold"/>
              </a:rPr>
              <a:t>FUNGSI KAMERA</a:t>
            </a:r>
          </a:p>
        </p:txBody>
      </p:sp>
      <p:sp>
        <p:nvSpPr>
          <p:cNvPr id="13" name="TextBox 13"/>
          <p:cNvSpPr txBox="1"/>
          <p:nvPr/>
        </p:nvSpPr>
        <p:spPr>
          <a:xfrm>
            <a:off x="8090352" y="5703519"/>
            <a:ext cx="3811192" cy="3608466"/>
          </a:xfrm>
          <a:prstGeom prst="rect">
            <a:avLst/>
          </a:prstGeom>
        </p:spPr>
        <p:txBody>
          <a:bodyPr lIns="0" tIns="0" rIns="0" bIns="0" rtlCol="0" anchor="t">
            <a:spAutoFit/>
          </a:bodyPr>
          <a:lstStyle/>
          <a:p>
            <a:pPr marL="444322" lvl="1" indent="-222161" algn="l">
              <a:lnSpc>
                <a:spcPts val="2181"/>
              </a:lnSpc>
              <a:buFont typeface="Arial"/>
              <a:buChar char="•"/>
            </a:pPr>
            <a:r>
              <a:rPr lang="en-US" sz="2058" b="1">
                <a:solidFill>
                  <a:srgbClr val="FFFFFF"/>
                </a:solidFill>
                <a:latin typeface="Raleway Semi-Bold"/>
                <a:ea typeface="Raleway Semi-Bold"/>
                <a:cs typeface="Raleway Semi-Bold"/>
                <a:sym typeface="Raleway Semi-Bold"/>
              </a:rPr>
              <a:t>turn_on_camera() , Mengaktifkan kamera (VideoCapture), mengatur resolusi.</a:t>
            </a:r>
          </a:p>
          <a:p>
            <a:pPr marL="444322" lvl="1" indent="-222161" algn="l">
              <a:lnSpc>
                <a:spcPts val="2181"/>
              </a:lnSpc>
              <a:buFont typeface="Arial"/>
              <a:buChar char="•"/>
            </a:pPr>
            <a:r>
              <a:rPr lang="en-US" sz="2058" b="1">
                <a:solidFill>
                  <a:srgbClr val="FFFFFF"/>
                </a:solidFill>
                <a:latin typeface="Raleway Semi-Bold"/>
                <a:ea typeface="Raleway Semi-Bold"/>
                <a:cs typeface="Raleway Semi-Bold"/>
                <a:sym typeface="Raleway Semi-Bold"/>
              </a:rPr>
              <a:t>turn_off_camera() , Melepaskan kamera agar tidak membaca frame (hemat daya dan sumber daya).</a:t>
            </a:r>
          </a:p>
          <a:p>
            <a:pPr algn="l">
              <a:lnSpc>
                <a:spcPts val="2181"/>
              </a:lnSpc>
            </a:pPr>
            <a:endParaRPr lang="en-US" sz="2058" b="1">
              <a:solidFill>
                <a:srgbClr val="FFFFFF"/>
              </a:solidFill>
              <a:latin typeface="Raleway Semi-Bold"/>
              <a:ea typeface="Raleway Semi-Bold"/>
              <a:cs typeface="Raleway Semi-Bold"/>
              <a:sym typeface="Raleway Semi-Bold"/>
            </a:endParaRPr>
          </a:p>
          <a:p>
            <a:pPr algn="l">
              <a:lnSpc>
                <a:spcPts val="2181"/>
              </a:lnSpc>
              <a:spcBef>
                <a:spcPct val="0"/>
              </a:spcBef>
            </a:pPr>
            <a:r>
              <a:rPr lang="en-US" sz="2058">
                <a:solidFill>
                  <a:srgbClr val="FFFFFF"/>
                </a:solidFill>
                <a:latin typeface="Raleway"/>
                <a:ea typeface="Raleway"/>
                <a:cs typeface="Raleway"/>
                <a:sym typeface="Raleway"/>
              </a:rPr>
              <a:t>Digunakan untuk mengaktifkan atau menonaktifkan kamera tergantung status sistem</a:t>
            </a:r>
          </a:p>
        </p:txBody>
      </p:sp>
      <p:sp>
        <p:nvSpPr>
          <p:cNvPr id="14" name="Freeform 14"/>
          <p:cNvSpPr/>
          <p:nvPr/>
        </p:nvSpPr>
        <p:spPr>
          <a:xfrm>
            <a:off x="12168243" y="4813380"/>
            <a:ext cx="887220" cy="871089"/>
          </a:xfrm>
          <a:custGeom>
            <a:avLst/>
            <a:gdLst/>
            <a:ahLst/>
            <a:cxnLst/>
            <a:rect l="l" t="t" r="r" b="b"/>
            <a:pathLst>
              <a:path w="887220" h="871089">
                <a:moveTo>
                  <a:pt x="0" y="0"/>
                </a:moveTo>
                <a:lnTo>
                  <a:pt x="887221" y="0"/>
                </a:lnTo>
                <a:lnTo>
                  <a:pt x="887221" y="871089"/>
                </a:lnTo>
                <a:lnTo>
                  <a:pt x="0" y="871089"/>
                </a:lnTo>
                <a:lnTo>
                  <a:pt x="0" y="0"/>
                </a:lnTo>
                <a:close/>
              </a:path>
            </a:pathLst>
          </a:custGeom>
          <a:blipFill>
            <a:blip>
              <a:alphaModFix amt="72000"/>
              <a:extLst>
                <a:ext uri="{96DAC541-7B7A-43D3-8B79-37D633B846F1}">
                  <asvg:svgBlip xmlns:asvg="http://schemas.microsoft.com/office/drawing/2016/SVG/main" r:embed="rId4"/>
                </a:ext>
              </a:extLst>
            </a:blip>
            <a:stretch>
              <a:fillRect/>
            </a:stretch>
          </a:blipFill>
        </p:spPr>
      </p:sp>
      <p:sp>
        <p:nvSpPr>
          <p:cNvPr id="15" name="TextBox 15"/>
          <p:cNvSpPr txBox="1"/>
          <p:nvPr/>
        </p:nvSpPr>
        <p:spPr>
          <a:xfrm>
            <a:off x="12611853" y="5131567"/>
            <a:ext cx="283352" cy="263292"/>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3.</a:t>
            </a:r>
          </a:p>
        </p:txBody>
      </p:sp>
      <p:sp>
        <p:nvSpPr>
          <p:cNvPr id="16" name="TextBox 16"/>
          <p:cNvSpPr txBox="1"/>
          <p:nvPr/>
        </p:nvSpPr>
        <p:spPr>
          <a:xfrm>
            <a:off x="13318504" y="5122042"/>
            <a:ext cx="3811192" cy="304627"/>
          </a:xfrm>
          <a:prstGeom prst="rect">
            <a:avLst/>
          </a:prstGeom>
        </p:spPr>
        <p:txBody>
          <a:bodyPr lIns="0" tIns="0" rIns="0" bIns="0" rtlCol="0" anchor="t">
            <a:spAutoFit/>
          </a:bodyPr>
          <a:lstStyle/>
          <a:p>
            <a:pPr algn="l">
              <a:lnSpc>
                <a:spcPts val="2261"/>
              </a:lnSpc>
              <a:spcBef>
                <a:spcPct val="0"/>
              </a:spcBef>
            </a:pPr>
            <a:r>
              <a:rPr lang="en-US" sz="2133" b="1">
                <a:solidFill>
                  <a:srgbClr val="FFFFFF"/>
                </a:solidFill>
                <a:latin typeface="Raleway Bold"/>
                <a:ea typeface="Raleway Bold"/>
                <a:cs typeface="Raleway Bold"/>
                <a:sym typeface="Raleway Bold"/>
              </a:rPr>
              <a:t>FUNGSI DRAW_UI()</a:t>
            </a:r>
          </a:p>
        </p:txBody>
      </p:sp>
      <p:sp>
        <p:nvSpPr>
          <p:cNvPr id="17" name="TextBox 17"/>
          <p:cNvSpPr txBox="1"/>
          <p:nvPr/>
        </p:nvSpPr>
        <p:spPr>
          <a:xfrm>
            <a:off x="13320768" y="5731469"/>
            <a:ext cx="4503489" cy="2688198"/>
          </a:xfrm>
          <a:prstGeom prst="rect">
            <a:avLst/>
          </a:prstGeom>
        </p:spPr>
        <p:txBody>
          <a:bodyPr lIns="0" tIns="0" rIns="0" bIns="0" rtlCol="0" anchor="t">
            <a:spAutoFit/>
          </a:bodyPr>
          <a:lstStyle/>
          <a:p>
            <a:pPr algn="l">
              <a:lnSpc>
                <a:spcPts val="2346"/>
              </a:lnSpc>
            </a:pPr>
            <a:r>
              <a:rPr lang="en-US" sz="2213" b="1">
                <a:solidFill>
                  <a:srgbClr val="FFFFFF"/>
                </a:solidFill>
                <a:latin typeface="Raleway Semi-Bold"/>
                <a:ea typeface="Raleway Semi-Bold"/>
                <a:cs typeface="Raleway Semi-Bold"/>
                <a:sym typeface="Raleway Semi-Bold"/>
              </a:rPr>
              <a:t>Menampilkan overlay informasi di layar:</a:t>
            </a:r>
          </a:p>
          <a:p>
            <a:pPr marL="477931" lvl="1" indent="-238966" algn="l">
              <a:lnSpc>
                <a:spcPts val="2346"/>
              </a:lnSpc>
              <a:buFont typeface="Arial"/>
              <a:buChar char="•"/>
            </a:pPr>
            <a:r>
              <a:rPr lang="en-US" sz="2213" b="1">
                <a:solidFill>
                  <a:srgbClr val="FFFFFF"/>
                </a:solidFill>
                <a:latin typeface="Raleway Semi-Bold"/>
                <a:ea typeface="Raleway Semi-Bold"/>
                <a:cs typeface="Raleway Semi-Bold"/>
                <a:sym typeface="Raleway Semi-Bold"/>
              </a:rPr>
              <a:t>Status (KERJA / ISTIRAHAT / PERSIAPAN).</a:t>
            </a:r>
          </a:p>
          <a:p>
            <a:pPr marL="477931" lvl="1" indent="-238966" algn="l">
              <a:lnSpc>
                <a:spcPts val="2346"/>
              </a:lnSpc>
              <a:buFont typeface="Arial"/>
              <a:buChar char="•"/>
            </a:pPr>
            <a:r>
              <a:rPr lang="en-US" sz="2213" b="1">
                <a:solidFill>
                  <a:srgbClr val="FFFFFF"/>
                </a:solidFill>
                <a:latin typeface="Raleway Semi-Bold"/>
                <a:ea typeface="Raleway Semi-Bold"/>
                <a:cs typeface="Raleway Semi-Bold"/>
                <a:sym typeface="Raleway Semi-Bold"/>
              </a:rPr>
              <a:t>Waktu berjalan.</a:t>
            </a:r>
          </a:p>
          <a:p>
            <a:pPr marL="477931" lvl="1" indent="-238966" algn="l">
              <a:lnSpc>
                <a:spcPts val="2346"/>
              </a:lnSpc>
              <a:buFont typeface="Arial"/>
              <a:buChar char="•"/>
            </a:pPr>
            <a:r>
              <a:rPr lang="en-US" sz="2213" b="1">
                <a:solidFill>
                  <a:srgbClr val="FFFFFF"/>
                </a:solidFill>
                <a:latin typeface="Raleway Semi-Bold"/>
                <a:ea typeface="Raleway Semi-Bold"/>
                <a:cs typeface="Raleway Semi-Bold"/>
                <a:sym typeface="Raleway Semi-Bold"/>
              </a:rPr>
              <a:t>Jumlah wajah terdeteksi.</a:t>
            </a:r>
          </a:p>
          <a:p>
            <a:pPr marL="477931" lvl="1" indent="-238966" algn="l">
              <a:lnSpc>
                <a:spcPts val="2346"/>
              </a:lnSpc>
              <a:buFont typeface="Arial"/>
              <a:buChar char="•"/>
            </a:pPr>
            <a:r>
              <a:rPr lang="en-US" sz="2213" b="1">
                <a:solidFill>
                  <a:srgbClr val="FFFFFF"/>
                </a:solidFill>
                <a:latin typeface="Raleway Semi-Bold"/>
                <a:ea typeface="Raleway Semi-Bold"/>
                <a:cs typeface="Raleway Semi-Bold"/>
                <a:sym typeface="Raleway Semi-Bold"/>
              </a:rPr>
              <a:t>Peringatan bila wajah tidak muncul.</a:t>
            </a:r>
          </a:p>
          <a:p>
            <a:pPr algn="l">
              <a:lnSpc>
                <a:spcPts val="2452"/>
              </a:lnSpc>
              <a:spcBef>
                <a:spcPct val="0"/>
              </a:spcBef>
            </a:pPr>
            <a:endParaRPr lang="en-US" sz="2213" b="1">
              <a:solidFill>
                <a:srgbClr val="FFFFFF"/>
              </a:solidFill>
              <a:latin typeface="Raleway Semi-Bold"/>
              <a:ea typeface="Raleway Semi-Bold"/>
              <a:cs typeface="Raleway Semi-Bold"/>
              <a:sym typeface="Raleway Semi-Bold"/>
            </a:endParaRPr>
          </a:p>
        </p:txBody>
      </p:sp>
      <p:sp>
        <p:nvSpPr>
          <p:cNvPr id="18" name="Freeform 18"/>
          <p:cNvSpPr/>
          <p:nvPr/>
        </p:nvSpPr>
        <p:spPr>
          <a:xfrm>
            <a:off x="608889" y="760213"/>
            <a:ext cx="12653961" cy="3174994"/>
          </a:xfrm>
          <a:custGeom>
            <a:avLst/>
            <a:gdLst/>
            <a:ahLst/>
            <a:cxnLst/>
            <a:rect l="l" t="t" r="r" b="b"/>
            <a:pathLst>
              <a:path w="12653961" h="3174994">
                <a:moveTo>
                  <a:pt x="0" y="0"/>
                </a:moveTo>
                <a:lnTo>
                  <a:pt x="12653961" y="0"/>
                </a:lnTo>
                <a:lnTo>
                  <a:pt x="12653961" y="3174994"/>
                </a:lnTo>
                <a:lnTo>
                  <a:pt x="0" y="317499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9" name="TextBox 19"/>
          <p:cNvSpPr txBox="1"/>
          <p:nvPr/>
        </p:nvSpPr>
        <p:spPr>
          <a:xfrm>
            <a:off x="6482210" y="1427838"/>
            <a:ext cx="6182451" cy="1169067"/>
          </a:xfrm>
          <a:prstGeom prst="rect">
            <a:avLst/>
          </a:prstGeom>
        </p:spPr>
        <p:txBody>
          <a:bodyPr lIns="0" tIns="0" rIns="0" bIns="0" rtlCol="0" anchor="t">
            <a:spAutoFit/>
          </a:bodyPr>
          <a:lstStyle/>
          <a:p>
            <a:pPr algn="l">
              <a:lnSpc>
                <a:spcPts val="8936"/>
              </a:lnSpc>
              <a:spcBef>
                <a:spcPct val="0"/>
              </a:spcBef>
            </a:pPr>
            <a:r>
              <a:rPr lang="en-US" sz="8430" b="1">
                <a:gradFill>
                  <a:gsLst>
                    <a:gs pos="0">
                      <a:srgbClr val="CDFFD8">
                        <a:alpha val="100000"/>
                      </a:srgbClr>
                    </a:gs>
                    <a:gs pos="100000">
                      <a:srgbClr val="94B9FF">
                        <a:alpha val="100000"/>
                      </a:srgbClr>
                    </a:gs>
                  </a:gsLst>
                  <a:lin ang="0"/>
                </a:gradFill>
                <a:latin typeface="TT Lakes Neue Bold"/>
                <a:ea typeface="TT Lakes Neue Bold"/>
                <a:cs typeface="TT Lakes Neue Bold"/>
                <a:sym typeface="TT Lakes Neue Bold"/>
              </a:rPr>
              <a:t>PROGRAM</a:t>
            </a:r>
          </a:p>
        </p:txBody>
      </p:sp>
      <p:sp>
        <p:nvSpPr>
          <p:cNvPr id="20" name="TextBox 20"/>
          <p:cNvSpPr txBox="1"/>
          <p:nvPr/>
        </p:nvSpPr>
        <p:spPr>
          <a:xfrm>
            <a:off x="1692681" y="1427838"/>
            <a:ext cx="6027032" cy="1167826"/>
          </a:xfrm>
          <a:prstGeom prst="rect">
            <a:avLst/>
          </a:prstGeom>
        </p:spPr>
        <p:txBody>
          <a:bodyPr lIns="0" tIns="0" rIns="0" bIns="0" rtlCol="0" anchor="t">
            <a:spAutoFit/>
          </a:bodyPr>
          <a:lstStyle/>
          <a:p>
            <a:pPr algn="l">
              <a:lnSpc>
                <a:spcPts val="8936"/>
              </a:lnSpc>
              <a:spcBef>
                <a:spcPct val="0"/>
              </a:spcBef>
            </a:pPr>
            <a:r>
              <a:rPr lang="en-US" sz="8430" b="1">
                <a:gradFill>
                  <a:gsLst>
                    <a:gs pos="0">
                      <a:srgbClr val="CDFFD8">
                        <a:alpha val="100000"/>
                      </a:srgbClr>
                    </a:gs>
                    <a:gs pos="100000">
                      <a:srgbClr val="94B9FF">
                        <a:alpha val="100000"/>
                      </a:srgbClr>
                    </a:gs>
                  </a:gsLst>
                  <a:lin ang="0"/>
                </a:gradFill>
                <a:latin typeface="TT Lakes Neue Bold"/>
                <a:ea typeface="TT Lakes Neue Bold"/>
                <a:cs typeface="TT Lakes Neue Bold"/>
                <a:sym typeface="TT Lakes Neue Bold"/>
              </a:rPr>
              <a:t>BAGIAN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2689978" y="2561718"/>
            <a:ext cx="3801587" cy="6078119"/>
          </a:xfrm>
          <a:custGeom>
            <a:avLst/>
            <a:gdLst/>
            <a:ahLst/>
            <a:cxnLst/>
            <a:rect l="l" t="t" r="r" b="b"/>
            <a:pathLst>
              <a:path w="3801587" h="6078119">
                <a:moveTo>
                  <a:pt x="0" y="0"/>
                </a:moveTo>
                <a:lnTo>
                  <a:pt x="3801587" y="0"/>
                </a:lnTo>
                <a:lnTo>
                  <a:pt x="3801587" y="6078119"/>
                </a:lnTo>
                <a:lnTo>
                  <a:pt x="0" y="607811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2397744" y="3796972"/>
            <a:ext cx="3893223" cy="3362771"/>
          </a:xfrm>
          <a:custGeom>
            <a:avLst/>
            <a:gdLst/>
            <a:ahLst/>
            <a:cxnLst/>
            <a:rect l="l" t="t" r="r" b="b"/>
            <a:pathLst>
              <a:path w="3893223" h="3362771">
                <a:moveTo>
                  <a:pt x="0" y="0"/>
                </a:moveTo>
                <a:lnTo>
                  <a:pt x="3893223" y="0"/>
                </a:lnTo>
                <a:lnTo>
                  <a:pt x="3893223" y="3362771"/>
                </a:lnTo>
                <a:lnTo>
                  <a:pt x="0" y="3362771"/>
                </a:lnTo>
                <a:lnTo>
                  <a:pt x="0" y="0"/>
                </a:lnTo>
                <a:close/>
              </a:path>
            </a:pathLst>
          </a:custGeom>
          <a:blipFill>
            <a:blip r:embed="rId4"/>
            <a:stretch>
              <a:fillRect/>
            </a:stretch>
          </a:blipFill>
        </p:spPr>
      </p:sp>
      <p:sp>
        <p:nvSpPr>
          <p:cNvPr id="5" name="Freeform 5"/>
          <p:cNvSpPr/>
          <p:nvPr/>
        </p:nvSpPr>
        <p:spPr>
          <a:xfrm rot="-5400000">
            <a:off x="11235825" y="2561718"/>
            <a:ext cx="3801587" cy="6078119"/>
          </a:xfrm>
          <a:custGeom>
            <a:avLst/>
            <a:gdLst/>
            <a:ahLst/>
            <a:cxnLst/>
            <a:rect l="l" t="t" r="r" b="b"/>
            <a:pathLst>
              <a:path w="3801587" h="6078119">
                <a:moveTo>
                  <a:pt x="0" y="0"/>
                </a:moveTo>
                <a:lnTo>
                  <a:pt x="3801587" y="0"/>
                </a:lnTo>
                <a:lnTo>
                  <a:pt x="3801587" y="6078119"/>
                </a:lnTo>
                <a:lnTo>
                  <a:pt x="0" y="607811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1019322" y="3769316"/>
            <a:ext cx="4234594" cy="3662923"/>
          </a:xfrm>
          <a:custGeom>
            <a:avLst/>
            <a:gdLst/>
            <a:ahLst/>
            <a:cxnLst/>
            <a:rect l="l" t="t" r="r" b="b"/>
            <a:pathLst>
              <a:path w="4234594" h="3662923">
                <a:moveTo>
                  <a:pt x="0" y="0"/>
                </a:moveTo>
                <a:lnTo>
                  <a:pt x="4234593" y="0"/>
                </a:lnTo>
                <a:lnTo>
                  <a:pt x="4234593" y="3662924"/>
                </a:lnTo>
                <a:lnTo>
                  <a:pt x="0" y="3662924"/>
                </a:lnTo>
                <a:lnTo>
                  <a:pt x="0" y="0"/>
                </a:lnTo>
                <a:close/>
              </a:path>
            </a:pathLst>
          </a:custGeom>
          <a:blipFill>
            <a:blip r:embed="rId5"/>
            <a:stretch>
              <a:fillRect/>
            </a:stretch>
          </a:blipFill>
        </p:spPr>
      </p:sp>
      <p:sp>
        <p:nvSpPr>
          <p:cNvPr id="7" name="TextBox 7"/>
          <p:cNvSpPr txBox="1"/>
          <p:nvPr/>
        </p:nvSpPr>
        <p:spPr>
          <a:xfrm>
            <a:off x="6059957" y="2741513"/>
            <a:ext cx="6168085" cy="819251"/>
          </a:xfrm>
          <a:prstGeom prst="rect">
            <a:avLst/>
          </a:prstGeom>
        </p:spPr>
        <p:txBody>
          <a:bodyPr lIns="0" tIns="0" rIns="0" bIns="0" rtlCol="0" anchor="t">
            <a:spAutoFit/>
          </a:bodyPr>
          <a:lstStyle/>
          <a:p>
            <a:pPr algn="l">
              <a:lnSpc>
                <a:spcPts val="6252"/>
              </a:lnSpc>
              <a:spcBef>
                <a:spcPct val="0"/>
              </a:spcBef>
            </a:pPr>
            <a:r>
              <a:rPr lang="en-US" sz="5898" b="1">
                <a:solidFill>
                  <a:srgbClr val="FFFFFF"/>
                </a:solidFill>
                <a:latin typeface="TT Lakes Neue Bold"/>
                <a:ea typeface="TT Lakes Neue Bold"/>
                <a:cs typeface="TT Lakes Neue Bold"/>
                <a:sym typeface="TT Lakes Neue Bold"/>
              </a:rPr>
              <a:t>ANTAR-STATE</a:t>
            </a:r>
          </a:p>
        </p:txBody>
      </p:sp>
      <p:sp>
        <p:nvSpPr>
          <p:cNvPr id="8" name="TextBox 8"/>
          <p:cNvSpPr txBox="1"/>
          <p:nvPr/>
        </p:nvSpPr>
        <p:spPr>
          <a:xfrm>
            <a:off x="2692536" y="1431726"/>
            <a:ext cx="2523199"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KELOMPOK 1</a:t>
            </a:r>
          </a:p>
        </p:txBody>
      </p:sp>
      <p:sp>
        <p:nvSpPr>
          <p:cNvPr id="9" name="TextBox 9"/>
          <p:cNvSpPr txBox="1"/>
          <p:nvPr/>
        </p:nvSpPr>
        <p:spPr>
          <a:xfrm>
            <a:off x="16175678" y="1560323"/>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PAGE 07</a:t>
            </a:r>
          </a:p>
        </p:txBody>
      </p:sp>
      <p:sp>
        <p:nvSpPr>
          <p:cNvPr id="10" name="TextBox 10"/>
          <p:cNvSpPr txBox="1"/>
          <p:nvPr/>
        </p:nvSpPr>
        <p:spPr>
          <a:xfrm>
            <a:off x="1732390" y="8015921"/>
            <a:ext cx="5223931" cy="1105200"/>
          </a:xfrm>
          <a:prstGeom prst="rect">
            <a:avLst/>
          </a:prstGeom>
        </p:spPr>
        <p:txBody>
          <a:bodyPr lIns="0" tIns="0" rIns="0" bIns="0" rtlCol="0" anchor="t">
            <a:spAutoFit/>
          </a:bodyPr>
          <a:lstStyle/>
          <a:p>
            <a:pPr algn="ctr">
              <a:lnSpc>
                <a:spcPts val="2857"/>
              </a:lnSpc>
              <a:spcBef>
                <a:spcPct val="0"/>
              </a:spcBef>
            </a:pPr>
            <a:r>
              <a:rPr lang="en-US" sz="2695" b="1">
                <a:solidFill>
                  <a:srgbClr val="FFFFFF"/>
                </a:solidFill>
                <a:latin typeface="Raleway Semi-Bold"/>
                <a:ea typeface="Raleway Semi-Bold"/>
                <a:cs typeface="Raleway Semi-Bold"/>
                <a:sym typeface="Raleway Semi-Bold"/>
              </a:rPr>
              <a:t>pemilihan lama Waktu kerja dan istirhat secara instan (User Freindly) /Mudah DIgunakan</a:t>
            </a:r>
          </a:p>
        </p:txBody>
      </p:sp>
      <p:sp>
        <p:nvSpPr>
          <p:cNvPr id="11" name="TextBox 11"/>
          <p:cNvSpPr txBox="1"/>
          <p:nvPr/>
        </p:nvSpPr>
        <p:spPr>
          <a:xfrm>
            <a:off x="3413951" y="1646048"/>
            <a:ext cx="11460099" cy="1167826"/>
          </a:xfrm>
          <a:prstGeom prst="rect">
            <a:avLst/>
          </a:prstGeom>
        </p:spPr>
        <p:txBody>
          <a:bodyPr lIns="0" tIns="0" rIns="0" bIns="0" rtlCol="0" anchor="t">
            <a:spAutoFit/>
          </a:bodyPr>
          <a:lstStyle/>
          <a:p>
            <a:pPr algn="l">
              <a:lnSpc>
                <a:spcPts val="8936"/>
              </a:lnSpc>
              <a:spcBef>
                <a:spcPct val="0"/>
              </a:spcBef>
            </a:pPr>
            <a:r>
              <a:rPr lang="en-US" sz="8430" b="1">
                <a:solidFill>
                  <a:srgbClr val="84E3F8"/>
                </a:solidFill>
                <a:latin typeface="TT Lakes Neue Bold"/>
                <a:ea typeface="TT Lakes Neue Bold"/>
                <a:cs typeface="TT Lakes Neue Bold"/>
                <a:sym typeface="TT Lakes Neue Bold"/>
              </a:rPr>
              <a:t>LOGIKA TRANSISI </a:t>
            </a:r>
          </a:p>
        </p:txBody>
      </p:sp>
      <p:sp>
        <p:nvSpPr>
          <p:cNvPr id="12" name="TextBox 12"/>
          <p:cNvSpPr txBox="1"/>
          <p:nvPr/>
        </p:nvSpPr>
        <p:spPr>
          <a:xfrm>
            <a:off x="9405357" y="7768271"/>
            <a:ext cx="6986205" cy="1732072"/>
          </a:xfrm>
          <a:prstGeom prst="rect">
            <a:avLst/>
          </a:prstGeom>
        </p:spPr>
        <p:txBody>
          <a:bodyPr lIns="0" tIns="0" rIns="0" bIns="0" rtlCol="0" anchor="t">
            <a:spAutoFit/>
          </a:bodyPr>
          <a:lstStyle/>
          <a:p>
            <a:pPr algn="ctr">
              <a:lnSpc>
                <a:spcPts val="2751"/>
              </a:lnSpc>
              <a:spcBef>
                <a:spcPct val="0"/>
              </a:spcBef>
            </a:pPr>
            <a:r>
              <a:rPr lang="en-US" sz="2595" b="1">
                <a:solidFill>
                  <a:srgbClr val="FFFFFF"/>
                </a:solidFill>
                <a:latin typeface="Raleway Bold"/>
                <a:ea typeface="Raleway Bold"/>
                <a:cs typeface="Raleway Bold"/>
                <a:sym typeface="Raleway Bold"/>
              </a:rPr>
              <a:t>control Waktu secara manual ,(bisa setting Waktu kerja , Waktu istirahat , Perispan secara manual (menit , jam , detik) dan memilh port camera serta setingan kamera (Scale factor, Min Nighborn dsb)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2689978" y="2561718"/>
            <a:ext cx="3801587" cy="6078119"/>
          </a:xfrm>
          <a:custGeom>
            <a:avLst/>
            <a:gdLst/>
            <a:ahLst/>
            <a:cxnLst/>
            <a:rect l="l" t="t" r="r" b="b"/>
            <a:pathLst>
              <a:path w="3801587" h="6078119">
                <a:moveTo>
                  <a:pt x="0" y="0"/>
                </a:moveTo>
                <a:lnTo>
                  <a:pt x="3801587" y="0"/>
                </a:lnTo>
                <a:lnTo>
                  <a:pt x="3801587" y="6078119"/>
                </a:lnTo>
                <a:lnTo>
                  <a:pt x="0" y="607811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1327088" y="2470456"/>
            <a:ext cx="4106387" cy="6565444"/>
          </a:xfrm>
          <a:custGeom>
            <a:avLst/>
            <a:gdLst/>
            <a:ahLst/>
            <a:cxnLst/>
            <a:rect l="l" t="t" r="r" b="b"/>
            <a:pathLst>
              <a:path w="4106387" h="6565444">
                <a:moveTo>
                  <a:pt x="0" y="0"/>
                </a:moveTo>
                <a:lnTo>
                  <a:pt x="4106387" y="0"/>
                </a:lnTo>
                <a:lnTo>
                  <a:pt x="4106387" y="6565444"/>
                </a:lnTo>
                <a:lnTo>
                  <a:pt x="0" y="656544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2083071" y="3736829"/>
            <a:ext cx="4756489" cy="3727898"/>
          </a:xfrm>
          <a:custGeom>
            <a:avLst/>
            <a:gdLst/>
            <a:ahLst/>
            <a:cxnLst/>
            <a:rect l="l" t="t" r="r" b="b"/>
            <a:pathLst>
              <a:path w="4756489" h="3727898">
                <a:moveTo>
                  <a:pt x="0" y="0"/>
                </a:moveTo>
                <a:lnTo>
                  <a:pt x="4756489" y="0"/>
                </a:lnTo>
                <a:lnTo>
                  <a:pt x="4756489" y="3727898"/>
                </a:lnTo>
                <a:lnTo>
                  <a:pt x="0" y="3727898"/>
                </a:lnTo>
                <a:lnTo>
                  <a:pt x="0" y="0"/>
                </a:lnTo>
                <a:close/>
              </a:path>
            </a:pathLst>
          </a:custGeom>
          <a:blipFill>
            <a:blip r:embed="rId4"/>
            <a:stretch>
              <a:fillRect/>
            </a:stretch>
          </a:blipFill>
        </p:spPr>
      </p:sp>
      <p:sp>
        <p:nvSpPr>
          <p:cNvPr id="6" name="Freeform 6"/>
          <p:cNvSpPr/>
          <p:nvPr/>
        </p:nvSpPr>
        <p:spPr>
          <a:xfrm>
            <a:off x="10376100" y="3910926"/>
            <a:ext cx="6008364" cy="3379704"/>
          </a:xfrm>
          <a:custGeom>
            <a:avLst/>
            <a:gdLst/>
            <a:ahLst/>
            <a:cxnLst/>
            <a:rect l="l" t="t" r="r" b="b"/>
            <a:pathLst>
              <a:path w="6008364" h="3379704">
                <a:moveTo>
                  <a:pt x="0" y="0"/>
                </a:moveTo>
                <a:lnTo>
                  <a:pt x="6008363" y="0"/>
                </a:lnTo>
                <a:lnTo>
                  <a:pt x="6008363" y="3379704"/>
                </a:lnTo>
                <a:lnTo>
                  <a:pt x="0" y="3379704"/>
                </a:lnTo>
                <a:lnTo>
                  <a:pt x="0" y="0"/>
                </a:lnTo>
                <a:close/>
              </a:path>
            </a:pathLst>
          </a:custGeom>
          <a:blipFill>
            <a:blip r:embed="rId5"/>
            <a:stretch>
              <a:fillRect/>
            </a:stretch>
          </a:blipFill>
        </p:spPr>
      </p:sp>
      <p:sp>
        <p:nvSpPr>
          <p:cNvPr id="7" name="TextBox 7"/>
          <p:cNvSpPr txBox="1"/>
          <p:nvPr/>
        </p:nvSpPr>
        <p:spPr>
          <a:xfrm>
            <a:off x="6059957" y="2791703"/>
            <a:ext cx="6168085" cy="908281"/>
          </a:xfrm>
          <a:prstGeom prst="rect">
            <a:avLst/>
          </a:prstGeom>
        </p:spPr>
        <p:txBody>
          <a:bodyPr lIns="0" tIns="0" rIns="0" bIns="0" rtlCol="0" anchor="t">
            <a:spAutoFit/>
          </a:bodyPr>
          <a:lstStyle/>
          <a:p>
            <a:pPr algn="l">
              <a:lnSpc>
                <a:spcPts val="6994"/>
              </a:lnSpc>
              <a:spcBef>
                <a:spcPct val="0"/>
              </a:spcBef>
            </a:pPr>
            <a:r>
              <a:rPr lang="en-US" sz="6598" b="1">
                <a:solidFill>
                  <a:srgbClr val="FFFFFF"/>
                </a:solidFill>
                <a:latin typeface="TT Lakes Neue Bold"/>
                <a:ea typeface="TT Lakes Neue Bold"/>
                <a:cs typeface="TT Lakes Neue Bold"/>
                <a:sym typeface="TT Lakes Neue Bold"/>
              </a:rPr>
              <a:t>ANTAR-STATE</a:t>
            </a:r>
          </a:p>
        </p:txBody>
      </p:sp>
      <p:sp>
        <p:nvSpPr>
          <p:cNvPr id="8" name="TextBox 8"/>
          <p:cNvSpPr txBox="1"/>
          <p:nvPr/>
        </p:nvSpPr>
        <p:spPr>
          <a:xfrm>
            <a:off x="2692536" y="1431726"/>
            <a:ext cx="2523199"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KELOMPOK 1</a:t>
            </a:r>
          </a:p>
        </p:txBody>
      </p:sp>
      <p:sp>
        <p:nvSpPr>
          <p:cNvPr id="9" name="TextBox 9"/>
          <p:cNvSpPr txBox="1"/>
          <p:nvPr/>
        </p:nvSpPr>
        <p:spPr>
          <a:xfrm>
            <a:off x="16175678" y="1560323"/>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PAGE 08</a:t>
            </a:r>
          </a:p>
        </p:txBody>
      </p:sp>
      <p:sp>
        <p:nvSpPr>
          <p:cNvPr id="10" name="TextBox 10"/>
          <p:cNvSpPr txBox="1"/>
          <p:nvPr/>
        </p:nvSpPr>
        <p:spPr>
          <a:xfrm>
            <a:off x="1551712" y="7825421"/>
            <a:ext cx="6376544" cy="995365"/>
          </a:xfrm>
          <a:prstGeom prst="rect">
            <a:avLst/>
          </a:prstGeom>
        </p:spPr>
        <p:txBody>
          <a:bodyPr lIns="0" tIns="0" rIns="0" bIns="0" rtlCol="0" anchor="t">
            <a:spAutoFit/>
          </a:bodyPr>
          <a:lstStyle/>
          <a:p>
            <a:pPr algn="ctr">
              <a:lnSpc>
                <a:spcPts val="2555"/>
              </a:lnSpc>
            </a:pPr>
            <a:r>
              <a:rPr lang="en-US" sz="2410" b="1">
                <a:solidFill>
                  <a:srgbClr val="FEFEFE"/>
                </a:solidFill>
                <a:latin typeface="Raleway Semi-Bold"/>
                <a:ea typeface="Raleway Semi-Bold"/>
                <a:cs typeface="Raleway Semi-Bold"/>
                <a:sym typeface="Raleway Semi-Bold"/>
              </a:rPr>
              <a:t>Kondisi Mode Kerja (KERJA)</a:t>
            </a:r>
          </a:p>
          <a:p>
            <a:pPr algn="ctr">
              <a:lnSpc>
                <a:spcPts val="2555"/>
              </a:lnSpc>
              <a:spcBef>
                <a:spcPct val="0"/>
              </a:spcBef>
            </a:pPr>
            <a:r>
              <a:rPr lang="en-US" sz="2410" b="1">
                <a:solidFill>
                  <a:srgbClr val="FEFEFE"/>
                </a:solidFill>
                <a:latin typeface="Raleway Semi-Bold"/>
                <a:ea typeface="Raleway Semi-Bold"/>
                <a:cs typeface="Raleway Semi-Bold"/>
                <a:sym typeface="Raleway Semi-Bold"/>
              </a:rPr>
              <a:t>Kamera aktif, wajah terdeteksi, timer berjalan.</a:t>
            </a:r>
          </a:p>
        </p:txBody>
      </p:sp>
      <p:sp>
        <p:nvSpPr>
          <p:cNvPr id="11" name="TextBox 11"/>
          <p:cNvSpPr txBox="1"/>
          <p:nvPr/>
        </p:nvSpPr>
        <p:spPr>
          <a:xfrm>
            <a:off x="3413951" y="1646048"/>
            <a:ext cx="11460099" cy="1167826"/>
          </a:xfrm>
          <a:prstGeom prst="rect">
            <a:avLst/>
          </a:prstGeom>
        </p:spPr>
        <p:txBody>
          <a:bodyPr lIns="0" tIns="0" rIns="0" bIns="0" rtlCol="0" anchor="t">
            <a:spAutoFit/>
          </a:bodyPr>
          <a:lstStyle/>
          <a:p>
            <a:pPr algn="l">
              <a:lnSpc>
                <a:spcPts val="8936"/>
              </a:lnSpc>
              <a:spcBef>
                <a:spcPct val="0"/>
              </a:spcBef>
            </a:pPr>
            <a:r>
              <a:rPr lang="en-US" sz="8430" b="1">
                <a:solidFill>
                  <a:srgbClr val="84E3F8"/>
                </a:solidFill>
                <a:latin typeface="TT Lakes Neue Bold"/>
                <a:ea typeface="TT Lakes Neue Bold"/>
                <a:cs typeface="TT Lakes Neue Bold"/>
                <a:sym typeface="TT Lakes Neue Bold"/>
              </a:rPr>
              <a:t>LOGIKA TRANSISI </a:t>
            </a:r>
          </a:p>
        </p:txBody>
      </p:sp>
      <p:sp>
        <p:nvSpPr>
          <p:cNvPr id="12" name="TextBox 12"/>
          <p:cNvSpPr txBox="1"/>
          <p:nvPr/>
        </p:nvSpPr>
        <p:spPr>
          <a:xfrm>
            <a:off x="10232434" y="7998973"/>
            <a:ext cx="6430570" cy="1215309"/>
          </a:xfrm>
          <a:prstGeom prst="rect">
            <a:avLst/>
          </a:prstGeom>
        </p:spPr>
        <p:txBody>
          <a:bodyPr lIns="0" tIns="0" rIns="0" bIns="0" rtlCol="0" anchor="t">
            <a:spAutoFit/>
          </a:bodyPr>
          <a:lstStyle/>
          <a:p>
            <a:pPr algn="ctr">
              <a:lnSpc>
                <a:spcPts val="3175"/>
              </a:lnSpc>
            </a:pPr>
            <a:r>
              <a:rPr lang="en-US" sz="2995" b="1">
                <a:solidFill>
                  <a:srgbClr val="FFFFFF"/>
                </a:solidFill>
                <a:latin typeface="Raleway Semi-Bold"/>
                <a:ea typeface="Raleway Semi-Bold"/>
                <a:cs typeface="Raleway Semi-Bold"/>
                <a:sym typeface="Raleway Semi-Bold"/>
              </a:rPr>
              <a:t>Kondisi Mode Deteksi Kantuk (DROWSINESS ALERT)</a:t>
            </a:r>
          </a:p>
          <a:p>
            <a:pPr algn="ctr">
              <a:lnSpc>
                <a:spcPts val="3175"/>
              </a:lnSpc>
              <a:spcBef>
                <a:spcPct val="0"/>
              </a:spcBef>
            </a:pPr>
            <a:r>
              <a:rPr lang="en-US" sz="2995" b="1">
                <a:solidFill>
                  <a:srgbClr val="FFFFFF"/>
                </a:solidFill>
                <a:latin typeface="Raleway Semi-Bold"/>
                <a:ea typeface="Raleway Semi-Bold"/>
                <a:cs typeface="Raleway Semi-Bold"/>
                <a:sym typeface="Raleway Semi-Bold"/>
              </a:rPr>
              <a:t>Popup merah + suara alarm aktif.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2689978" y="2561718"/>
            <a:ext cx="3801587" cy="6078119"/>
          </a:xfrm>
          <a:custGeom>
            <a:avLst/>
            <a:gdLst/>
            <a:ahLst/>
            <a:cxnLst/>
            <a:rect l="l" t="t" r="r" b="b"/>
            <a:pathLst>
              <a:path w="3801587" h="6078119">
                <a:moveTo>
                  <a:pt x="0" y="0"/>
                </a:moveTo>
                <a:lnTo>
                  <a:pt x="3801587" y="0"/>
                </a:lnTo>
                <a:lnTo>
                  <a:pt x="3801587" y="6078119"/>
                </a:lnTo>
                <a:lnTo>
                  <a:pt x="0" y="607811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1235825" y="2561718"/>
            <a:ext cx="3801587" cy="6078119"/>
          </a:xfrm>
          <a:custGeom>
            <a:avLst/>
            <a:gdLst/>
            <a:ahLst/>
            <a:cxnLst/>
            <a:rect l="l" t="t" r="r" b="b"/>
            <a:pathLst>
              <a:path w="3801587" h="6078119">
                <a:moveTo>
                  <a:pt x="0" y="0"/>
                </a:moveTo>
                <a:lnTo>
                  <a:pt x="3801587" y="0"/>
                </a:lnTo>
                <a:lnTo>
                  <a:pt x="3801587" y="6078119"/>
                </a:lnTo>
                <a:lnTo>
                  <a:pt x="0" y="607811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711939" y="3999367"/>
            <a:ext cx="5693907" cy="3202823"/>
          </a:xfrm>
          <a:custGeom>
            <a:avLst/>
            <a:gdLst/>
            <a:ahLst/>
            <a:cxnLst/>
            <a:rect l="l" t="t" r="r" b="b"/>
            <a:pathLst>
              <a:path w="5693907" h="3202823">
                <a:moveTo>
                  <a:pt x="0" y="0"/>
                </a:moveTo>
                <a:lnTo>
                  <a:pt x="5693907" y="0"/>
                </a:lnTo>
                <a:lnTo>
                  <a:pt x="5693907" y="3202822"/>
                </a:lnTo>
                <a:lnTo>
                  <a:pt x="0" y="3202822"/>
                </a:lnTo>
                <a:lnTo>
                  <a:pt x="0" y="0"/>
                </a:lnTo>
                <a:close/>
              </a:path>
            </a:pathLst>
          </a:custGeom>
          <a:blipFill>
            <a:blip r:embed="rId4"/>
            <a:stretch>
              <a:fillRect/>
            </a:stretch>
          </a:blipFill>
        </p:spPr>
      </p:sp>
      <p:sp>
        <p:nvSpPr>
          <p:cNvPr id="6" name="Freeform 6"/>
          <p:cNvSpPr/>
          <p:nvPr/>
        </p:nvSpPr>
        <p:spPr>
          <a:xfrm>
            <a:off x="10251553" y="3869869"/>
            <a:ext cx="5654383" cy="3180591"/>
          </a:xfrm>
          <a:custGeom>
            <a:avLst/>
            <a:gdLst/>
            <a:ahLst/>
            <a:cxnLst/>
            <a:rect l="l" t="t" r="r" b="b"/>
            <a:pathLst>
              <a:path w="5654383" h="3180591">
                <a:moveTo>
                  <a:pt x="0" y="0"/>
                </a:moveTo>
                <a:lnTo>
                  <a:pt x="5654383" y="0"/>
                </a:lnTo>
                <a:lnTo>
                  <a:pt x="5654383" y="3180591"/>
                </a:lnTo>
                <a:lnTo>
                  <a:pt x="0" y="3180591"/>
                </a:lnTo>
                <a:lnTo>
                  <a:pt x="0" y="0"/>
                </a:lnTo>
                <a:close/>
              </a:path>
            </a:pathLst>
          </a:custGeom>
          <a:blipFill>
            <a:blip r:embed="rId5"/>
            <a:stretch>
              <a:fillRect/>
            </a:stretch>
          </a:blipFill>
        </p:spPr>
      </p:sp>
      <p:sp>
        <p:nvSpPr>
          <p:cNvPr id="7" name="TextBox 7"/>
          <p:cNvSpPr txBox="1"/>
          <p:nvPr/>
        </p:nvSpPr>
        <p:spPr>
          <a:xfrm>
            <a:off x="6059957" y="2791703"/>
            <a:ext cx="6168085" cy="908281"/>
          </a:xfrm>
          <a:prstGeom prst="rect">
            <a:avLst/>
          </a:prstGeom>
        </p:spPr>
        <p:txBody>
          <a:bodyPr lIns="0" tIns="0" rIns="0" bIns="0" rtlCol="0" anchor="t">
            <a:spAutoFit/>
          </a:bodyPr>
          <a:lstStyle/>
          <a:p>
            <a:pPr algn="l">
              <a:lnSpc>
                <a:spcPts val="6994"/>
              </a:lnSpc>
              <a:spcBef>
                <a:spcPct val="0"/>
              </a:spcBef>
            </a:pPr>
            <a:r>
              <a:rPr lang="en-US" sz="6598" b="1">
                <a:solidFill>
                  <a:srgbClr val="FFFFFF"/>
                </a:solidFill>
                <a:latin typeface="TT Lakes Neue Bold"/>
                <a:ea typeface="TT Lakes Neue Bold"/>
                <a:cs typeface="TT Lakes Neue Bold"/>
                <a:sym typeface="TT Lakes Neue Bold"/>
              </a:rPr>
              <a:t>ANTAR-STATE</a:t>
            </a:r>
          </a:p>
        </p:txBody>
      </p:sp>
      <p:sp>
        <p:nvSpPr>
          <p:cNvPr id="8" name="TextBox 8"/>
          <p:cNvSpPr txBox="1"/>
          <p:nvPr/>
        </p:nvSpPr>
        <p:spPr>
          <a:xfrm>
            <a:off x="2692536" y="1431726"/>
            <a:ext cx="2523199"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KELOMPOK 1</a:t>
            </a:r>
          </a:p>
        </p:txBody>
      </p:sp>
      <p:sp>
        <p:nvSpPr>
          <p:cNvPr id="9" name="TextBox 9"/>
          <p:cNvSpPr txBox="1"/>
          <p:nvPr/>
        </p:nvSpPr>
        <p:spPr>
          <a:xfrm>
            <a:off x="16175678" y="1560323"/>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PAGE 09</a:t>
            </a:r>
          </a:p>
        </p:txBody>
      </p:sp>
      <p:sp>
        <p:nvSpPr>
          <p:cNvPr id="10" name="TextBox 10"/>
          <p:cNvSpPr txBox="1"/>
          <p:nvPr/>
        </p:nvSpPr>
        <p:spPr>
          <a:xfrm>
            <a:off x="1732390" y="7911146"/>
            <a:ext cx="5897440" cy="1507028"/>
          </a:xfrm>
          <a:prstGeom prst="rect">
            <a:avLst/>
          </a:prstGeom>
        </p:spPr>
        <p:txBody>
          <a:bodyPr lIns="0" tIns="0" rIns="0" bIns="0" rtlCol="0" anchor="t">
            <a:spAutoFit/>
          </a:bodyPr>
          <a:lstStyle/>
          <a:p>
            <a:pPr algn="ctr">
              <a:lnSpc>
                <a:spcPts val="2963"/>
              </a:lnSpc>
            </a:pPr>
            <a:r>
              <a:rPr lang="en-US" sz="2795" b="1">
                <a:solidFill>
                  <a:srgbClr val="FFFFFF"/>
                </a:solidFill>
                <a:latin typeface="Raleway Bold"/>
                <a:ea typeface="Raleway Bold"/>
                <a:cs typeface="Raleway Bold"/>
                <a:sym typeface="Raleway Bold"/>
              </a:rPr>
              <a:t>Kondisi Mode Persiapan (PREPARE)</a:t>
            </a:r>
          </a:p>
          <a:p>
            <a:pPr algn="ctr">
              <a:lnSpc>
                <a:spcPts val="2963"/>
              </a:lnSpc>
              <a:spcBef>
                <a:spcPct val="0"/>
              </a:spcBef>
            </a:pPr>
            <a:r>
              <a:rPr lang="en-US" sz="2795" b="1">
                <a:solidFill>
                  <a:srgbClr val="FFFFFF"/>
                </a:solidFill>
                <a:latin typeface="Raleway Bold"/>
                <a:ea typeface="Raleway Bold"/>
                <a:cs typeface="Raleway Bold"/>
                <a:sym typeface="Raleway Bold"/>
              </a:rPr>
              <a:t>Sistem menunggu pengguna kembali aktif.</a:t>
            </a:r>
          </a:p>
        </p:txBody>
      </p:sp>
      <p:sp>
        <p:nvSpPr>
          <p:cNvPr id="11" name="TextBox 11"/>
          <p:cNvSpPr txBox="1"/>
          <p:nvPr/>
        </p:nvSpPr>
        <p:spPr>
          <a:xfrm>
            <a:off x="3413951" y="1646048"/>
            <a:ext cx="11460099" cy="1167826"/>
          </a:xfrm>
          <a:prstGeom prst="rect">
            <a:avLst/>
          </a:prstGeom>
        </p:spPr>
        <p:txBody>
          <a:bodyPr lIns="0" tIns="0" rIns="0" bIns="0" rtlCol="0" anchor="t">
            <a:spAutoFit/>
          </a:bodyPr>
          <a:lstStyle/>
          <a:p>
            <a:pPr algn="l">
              <a:lnSpc>
                <a:spcPts val="8936"/>
              </a:lnSpc>
              <a:spcBef>
                <a:spcPct val="0"/>
              </a:spcBef>
            </a:pPr>
            <a:r>
              <a:rPr lang="en-US" sz="8430" b="1">
                <a:solidFill>
                  <a:srgbClr val="84E3F8"/>
                </a:solidFill>
                <a:latin typeface="TT Lakes Neue Bold"/>
                <a:ea typeface="TT Lakes Neue Bold"/>
                <a:cs typeface="TT Lakes Neue Bold"/>
                <a:sym typeface="TT Lakes Neue Bold"/>
              </a:rPr>
              <a:t>LOGIKA TRANSISI </a:t>
            </a:r>
          </a:p>
        </p:txBody>
      </p:sp>
      <p:sp>
        <p:nvSpPr>
          <p:cNvPr id="12" name="TextBox 12"/>
          <p:cNvSpPr txBox="1"/>
          <p:nvPr/>
        </p:nvSpPr>
        <p:spPr>
          <a:xfrm>
            <a:off x="10278238" y="7920671"/>
            <a:ext cx="6430570" cy="1304590"/>
          </a:xfrm>
          <a:prstGeom prst="rect">
            <a:avLst/>
          </a:prstGeom>
        </p:spPr>
        <p:txBody>
          <a:bodyPr lIns="0" tIns="0" rIns="0" bIns="0" rtlCol="0" anchor="t">
            <a:spAutoFit/>
          </a:bodyPr>
          <a:lstStyle/>
          <a:p>
            <a:pPr algn="ctr">
              <a:lnSpc>
                <a:spcPts val="3387"/>
              </a:lnSpc>
            </a:pPr>
            <a:r>
              <a:rPr lang="en-US" sz="3195" b="1">
                <a:solidFill>
                  <a:srgbClr val="FFFFFF"/>
                </a:solidFill>
                <a:latin typeface="Raleway Bold"/>
                <a:ea typeface="Raleway Bold"/>
                <a:cs typeface="Raleway Bold"/>
                <a:sym typeface="Raleway Bold"/>
              </a:rPr>
              <a:t>Kondisi Mode Istirahat (BREAK)</a:t>
            </a:r>
          </a:p>
          <a:p>
            <a:pPr algn="ctr">
              <a:lnSpc>
                <a:spcPts val="3387"/>
              </a:lnSpc>
              <a:spcBef>
                <a:spcPct val="0"/>
              </a:spcBef>
            </a:pPr>
            <a:r>
              <a:rPr lang="en-US" sz="3195" b="1">
                <a:solidFill>
                  <a:srgbClr val="FFFFFF"/>
                </a:solidFill>
                <a:latin typeface="Raleway Bold"/>
                <a:ea typeface="Raleway Bold"/>
                <a:cs typeface="Raleway Bold"/>
                <a:sym typeface="Raleway Bold"/>
              </a:rPr>
              <a:t>Popup kuning muncul jika wajah tetap terdeteksi.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a:grpSpLocks noChangeAspect="1"/>
          </p:cNvGrpSpPr>
          <p:nvPr/>
        </p:nvGrpSpPr>
        <p:grpSpPr>
          <a:xfrm>
            <a:off x="2235739" y="2695386"/>
            <a:ext cx="3751228" cy="3751228"/>
            <a:chOff x="0" y="0"/>
            <a:chExt cx="14840029" cy="14840029"/>
          </a:xfrm>
        </p:grpSpPr>
        <p:sp>
          <p:nvSpPr>
            <p:cNvPr id="4" name="Freeform 4"/>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id="5" name="Freeform 5"/>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6" name="Freeform 6"/>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38492" r="-38492"/>
              </a:stretch>
            </a:blipFill>
          </p:spPr>
        </p:sp>
      </p:grpSp>
      <p:grpSp>
        <p:nvGrpSpPr>
          <p:cNvPr id="7" name="Group 7"/>
          <p:cNvGrpSpPr>
            <a:grpSpLocks noChangeAspect="1"/>
          </p:cNvGrpSpPr>
          <p:nvPr/>
        </p:nvGrpSpPr>
        <p:grpSpPr>
          <a:xfrm>
            <a:off x="2235739" y="5713627"/>
            <a:ext cx="3751228" cy="3751228"/>
            <a:chOff x="0" y="0"/>
            <a:chExt cx="14840029" cy="14840029"/>
          </a:xfrm>
        </p:grpSpPr>
        <p:sp>
          <p:nvSpPr>
            <p:cNvPr id="8" name="Freeform 8"/>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id="9" name="Freeform 9"/>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10" name="Freeform 10"/>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t="-16665" r="223" b="-16666"/>
              </a:stretch>
            </a:blipFill>
          </p:spPr>
        </p:sp>
      </p:grpSp>
      <p:sp>
        <p:nvSpPr>
          <p:cNvPr id="11" name="Freeform 11"/>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5"/>
                </a:ext>
              </a:extLst>
            </a:blip>
            <a:stretch>
              <a:fillRect/>
            </a:stretch>
          </a:blipFill>
        </p:spPr>
      </p:sp>
      <p:sp>
        <p:nvSpPr>
          <p:cNvPr id="12" name="Freeform 12"/>
          <p:cNvSpPr/>
          <p:nvPr/>
        </p:nvSpPr>
        <p:spPr>
          <a:xfrm>
            <a:off x="16498042" y="8169056"/>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5"/>
                </a:ext>
              </a:extLst>
            </a:blip>
            <a:stretch>
              <a:fillRect/>
            </a:stretch>
          </a:blipFill>
        </p:spPr>
      </p:sp>
      <p:sp>
        <p:nvSpPr>
          <p:cNvPr id="13" name="Freeform 13"/>
          <p:cNvSpPr/>
          <p:nvPr/>
        </p:nvSpPr>
        <p:spPr>
          <a:xfrm>
            <a:off x="6293236" y="6120077"/>
            <a:ext cx="11301259" cy="2938327"/>
          </a:xfrm>
          <a:custGeom>
            <a:avLst/>
            <a:gdLst/>
            <a:ahLst/>
            <a:cxnLst/>
            <a:rect l="l" t="t" r="r" b="b"/>
            <a:pathLst>
              <a:path w="11301259" h="2938327">
                <a:moveTo>
                  <a:pt x="0" y="0"/>
                </a:moveTo>
                <a:lnTo>
                  <a:pt x="11301259" y="0"/>
                </a:lnTo>
                <a:lnTo>
                  <a:pt x="11301259" y="2938328"/>
                </a:lnTo>
                <a:lnTo>
                  <a:pt x="0" y="2938328"/>
                </a:lnTo>
                <a:lnTo>
                  <a:pt x="0" y="0"/>
                </a:lnTo>
                <a:close/>
              </a:path>
            </a:pathLst>
          </a:custGeom>
          <a:blipFill>
            <a:blip r:embed="rId6"/>
            <a:stretch>
              <a:fillRect/>
            </a:stretch>
          </a:blipFill>
        </p:spPr>
      </p:sp>
      <p:sp>
        <p:nvSpPr>
          <p:cNvPr id="14" name="TextBox 14"/>
          <p:cNvSpPr txBox="1"/>
          <p:nvPr/>
        </p:nvSpPr>
        <p:spPr>
          <a:xfrm>
            <a:off x="2692536" y="1431726"/>
            <a:ext cx="2114168"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KELOMPOK 1</a:t>
            </a:r>
          </a:p>
        </p:txBody>
      </p:sp>
      <p:sp>
        <p:nvSpPr>
          <p:cNvPr id="15" name="TextBox 15"/>
          <p:cNvSpPr txBox="1"/>
          <p:nvPr/>
        </p:nvSpPr>
        <p:spPr>
          <a:xfrm>
            <a:off x="16175678" y="1560323"/>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PAGE 10</a:t>
            </a:r>
          </a:p>
        </p:txBody>
      </p:sp>
      <p:sp>
        <p:nvSpPr>
          <p:cNvPr id="16" name="TextBox 16"/>
          <p:cNvSpPr txBox="1"/>
          <p:nvPr/>
        </p:nvSpPr>
        <p:spPr>
          <a:xfrm>
            <a:off x="6609491" y="1918846"/>
            <a:ext cx="8665935" cy="1016162"/>
          </a:xfrm>
          <a:prstGeom prst="rect">
            <a:avLst/>
          </a:prstGeom>
        </p:spPr>
        <p:txBody>
          <a:bodyPr lIns="0" tIns="0" rIns="0" bIns="0" rtlCol="0" anchor="t">
            <a:spAutoFit/>
          </a:bodyPr>
          <a:lstStyle/>
          <a:p>
            <a:pPr algn="l">
              <a:lnSpc>
                <a:spcPts val="7770"/>
              </a:lnSpc>
              <a:spcBef>
                <a:spcPct val="0"/>
              </a:spcBef>
            </a:pPr>
            <a:r>
              <a:rPr lang="en-US" sz="7330" b="1">
                <a:solidFill>
                  <a:srgbClr val="84E3F8"/>
                </a:solidFill>
                <a:latin typeface="TT Lakes Neue Bold"/>
                <a:ea typeface="TT Lakes Neue Bold"/>
                <a:cs typeface="TT Lakes Neue Bold"/>
                <a:sym typeface="TT Lakes Neue Bold"/>
              </a:rPr>
              <a:t>KESIMPULAN</a:t>
            </a:r>
          </a:p>
        </p:txBody>
      </p:sp>
      <p:sp>
        <p:nvSpPr>
          <p:cNvPr id="17" name="TextBox 17"/>
          <p:cNvSpPr txBox="1"/>
          <p:nvPr/>
        </p:nvSpPr>
        <p:spPr>
          <a:xfrm>
            <a:off x="6115449" y="3145876"/>
            <a:ext cx="11479046" cy="2352662"/>
          </a:xfrm>
          <a:prstGeom prst="rect">
            <a:avLst/>
          </a:prstGeom>
        </p:spPr>
        <p:txBody>
          <a:bodyPr lIns="0" tIns="0" rIns="0" bIns="0" rtlCol="0" anchor="t">
            <a:spAutoFit/>
          </a:bodyPr>
          <a:lstStyle/>
          <a:p>
            <a:pPr marL="475401" lvl="1" indent="-237701" algn="just">
              <a:lnSpc>
                <a:spcPts val="2334"/>
              </a:lnSpc>
              <a:buAutoNum type="arabicPeriod"/>
            </a:pPr>
            <a:r>
              <a:rPr lang="en-US" sz="2201" b="1">
                <a:solidFill>
                  <a:srgbClr val="FFFFFF"/>
                </a:solidFill>
                <a:latin typeface="Raleway Semi-Bold"/>
                <a:ea typeface="Raleway Semi-Bold"/>
                <a:cs typeface="Raleway Semi-Bold"/>
                <a:sym typeface="Raleway Semi-Bold"/>
              </a:rPr>
              <a:t>Sistem pemantauan visual berbasis AI sederhana dengan manajemen waktu kerja yang otomatis dan adaptif.</a:t>
            </a:r>
          </a:p>
          <a:p>
            <a:pPr marL="475401" lvl="1" indent="-237701" algn="just">
              <a:lnSpc>
                <a:spcPts val="2334"/>
              </a:lnSpc>
              <a:buAutoNum type="arabicPeriod"/>
            </a:pPr>
            <a:r>
              <a:rPr lang="en-US" sz="2201" b="1">
                <a:solidFill>
                  <a:srgbClr val="FFFFFF"/>
                </a:solidFill>
                <a:latin typeface="Raleway Semi-Bold"/>
                <a:ea typeface="Raleway Semi-Bold"/>
                <a:cs typeface="Raleway Semi-Bold"/>
                <a:sym typeface="Raleway Semi-Bold"/>
              </a:rPr>
              <a:t>Seluruh fitur bekerja dengan baik — mulai dari deteksi wajah, deteksi kantuk, transisi antar mode, hingga tampilan popup yang responsif.</a:t>
            </a:r>
          </a:p>
          <a:p>
            <a:pPr marL="475401" lvl="1" indent="-237701" algn="just">
              <a:lnSpc>
                <a:spcPts val="2334"/>
              </a:lnSpc>
              <a:buAutoNum type="arabicPeriod"/>
            </a:pPr>
            <a:r>
              <a:rPr lang="en-US" sz="2201" b="1">
                <a:solidFill>
                  <a:srgbClr val="FFFFFF"/>
                </a:solidFill>
                <a:latin typeface="Raleway Semi-Bold"/>
                <a:ea typeface="Raleway Semi-Bold"/>
                <a:cs typeface="Raleway Semi-Bold"/>
                <a:sym typeface="Raleway Semi-Bold"/>
              </a:rPr>
              <a:t>Program mampu berjalan stabil dalam jangka waktu lama tanpa crash, dan GUI tetap interaktif.</a:t>
            </a:r>
          </a:p>
          <a:p>
            <a:pPr marL="475401" lvl="1" indent="-237701" algn="just">
              <a:lnSpc>
                <a:spcPts val="2334"/>
              </a:lnSpc>
              <a:spcBef>
                <a:spcPct val="0"/>
              </a:spcBef>
              <a:buAutoNum type="arabicPeriod"/>
            </a:pPr>
            <a:r>
              <a:rPr lang="en-US" sz="2201" b="1">
                <a:solidFill>
                  <a:srgbClr val="FFFFFF"/>
                </a:solidFill>
                <a:latin typeface="Raleway Semi-Bold"/>
                <a:ea typeface="Raleway Semi-Bold"/>
                <a:cs typeface="Raleway Semi-Bold"/>
                <a:sym typeface="Raleway Semi-Bold"/>
              </a:rPr>
              <a:t>Sistem ini efektif digunakan sebagai alat bantu keselamatan kerja digital untuk mencegah kelelahan atau kantuk berlebih selama aktivitas di depan komputer.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5400000">
            <a:off x="4984803" y="-1314334"/>
            <a:ext cx="8318394" cy="13299759"/>
          </a:xfrm>
          <a:custGeom>
            <a:avLst/>
            <a:gdLst/>
            <a:ahLst/>
            <a:cxnLst/>
            <a:rect l="l" t="t" r="r" b="b"/>
            <a:pathLst>
              <a:path w="8318394" h="13299759">
                <a:moveTo>
                  <a:pt x="0" y="0"/>
                </a:moveTo>
                <a:lnTo>
                  <a:pt x="8318394" y="0"/>
                </a:lnTo>
                <a:lnTo>
                  <a:pt x="8318394" y="13299759"/>
                </a:lnTo>
                <a:lnTo>
                  <a:pt x="0" y="1329975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8055515" y="2243991"/>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036112" y="2369168"/>
            <a:ext cx="2032362"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KELOMPOK 1</a:t>
            </a:r>
          </a:p>
        </p:txBody>
      </p:sp>
      <p:sp>
        <p:nvSpPr>
          <p:cNvPr id="5" name="TextBox 5"/>
          <p:cNvSpPr txBox="1"/>
          <p:nvPr/>
        </p:nvSpPr>
        <p:spPr>
          <a:xfrm>
            <a:off x="6595089" y="4598153"/>
            <a:ext cx="5097823" cy="1636709"/>
          </a:xfrm>
          <a:prstGeom prst="rect">
            <a:avLst/>
          </a:prstGeom>
        </p:spPr>
        <p:txBody>
          <a:bodyPr lIns="0" tIns="0" rIns="0" bIns="0" rtlCol="0" anchor="t">
            <a:spAutoFit/>
          </a:bodyPr>
          <a:lstStyle/>
          <a:p>
            <a:pPr algn="ctr">
              <a:lnSpc>
                <a:spcPts val="12523"/>
              </a:lnSpc>
              <a:spcBef>
                <a:spcPct val="0"/>
              </a:spcBef>
            </a:pPr>
            <a:r>
              <a:rPr lang="en-US" sz="11814" b="1">
                <a:solidFill>
                  <a:srgbClr val="FFFFFF"/>
                </a:solidFill>
                <a:latin typeface="TT Lakes Neue Bold"/>
                <a:ea typeface="TT Lakes Neue Bold"/>
                <a:cs typeface="TT Lakes Neue Bold"/>
                <a:sym typeface="TT Lakes Neue Bold"/>
              </a:rPr>
              <a:t>YOU!</a:t>
            </a:r>
          </a:p>
        </p:txBody>
      </p:sp>
      <p:sp>
        <p:nvSpPr>
          <p:cNvPr id="6" name="TextBox 6"/>
          <p:cNvSpPr txBox="1"/>
          <p:nvPr/>
        </p:nvSpPr>
        <p:spPr>
          <a:xfrm>
            <a:off x="6245623" y="3359600"/>
            <a:ext cx="5796755" cy="1636709"/>
          </a:xfrm>
          <a:prstGeom prst="rect">
            <a:avLst/>
          </a:prstGeom>
        </p:spPr>
        <p:txBody>
          <a:bodyPr lIns="0" tIns="0" rIns="0" bIns="0" rtlCol="0" anchor="t">
            <a:spAutoFit/>
          </a:bodyPr>
          <a:lstStyle/>
          <a:p>
            <a:pPr algn="ctr">
              <a:lnSpc>
                <a:spcPts val="12523"/>
              </a:lnSpc>
              <a:spcBef>
                <a:spcPct val="0"/>
              </a:spcBef>
            </a:pPr>
            <a:r>
              <a:rPr lang="en-US" sz="11814" b="1">
                <a:solidFill>
                  <a:srgbClr val="84E3F8"/>
                </a:solidFill>
                <a:latin typeface="TT Lakes Neue Bold"/>
                <a:ea typeface="TT Lakes Neue Bold"/>
                <a:cs typeface="TT Lakes Neue Bold"/>
                <a:sym typeface="TT Lakes Neue Bold"/>
              </a:rPr>
              <a:t>THANK</a:t>
            </a:r>
          </a:p>
        </p:txBody>
      </p:sp>
      <p:sp>
        <p:nvSpPr>
          <p:cNvPr id="7" name="Freeform 7"/>
          <p:cNvSpPr/>
          <p:nvPr/>
        </p:nvSpPr>
        <p:spPr>
          <a:xfrm>
            <a:off x="2494121" y="857710"/>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27000"/>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5630935" y="6825412"/>
            <a:ext cx="88427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https://github.com/Gedewsnnn/Face-Detection-Break-Time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833</Words>
  <Application>Microsoft Office PowerPoint</Application>
  <PresentationFormat>Custom</PresentationFormat>
  <Paragraphs>123</Paragraphs>
  <Slides>10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Open Sans Bold</vt:lpstr>
      <vt:lpstr>TT Lakes Neue</vt:lpstr>
      <vt:lpstr>Open Sans Italics</vt:lpstr>
      <vt:lpstr>TT Lakes Neue Bold</vt:lpstr>
      <vt:lpstr>Raleway</vt:lpstr>
      <vt:lpstr>Calibri</vt:lpstr>
      <vt:lpstr>Open Sans</vt:lpstr>
      <vt:lpstr>Arial</vt:lpstr>
      <vt:lpstr>Raleway Bold</vt:lpstr>
      <vt:lpstr>Raleway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AI Technology Presentation</dc:title>
  <cp:lastModifiedBy>adib tantowi</cp:lastModifiedBy>
  <cp:revision>2</cp:revision>
  <dcterms:created xsi:type="dcterms:W3CDTF">2006-08-16T00:00:00Z</dcterms:created>
  <dcterms:modified xsi:type="dcterms:W3CDTF">2026-08-03T08:58:06Z</dcterms:modified>
  <dc:identifier>DAG3yUKhn_I</dc:identifier>
</cp:coreProperties>
</file>